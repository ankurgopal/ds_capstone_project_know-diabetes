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62" r:id="rId4"/>
    <p:sldId id="265" r:id="rId5"/>
    <p:sldId id="261" r:id="rId6"/>
    <p:sldId id="263" r:id="rId7"/>
    <p:sldId id="258" r:id="rId8"/>
    <p:sldId id="267" r:id="rId9"/>
    <p:sldId id="266" r:id="rId10"/>
    <p:sldId id="259" r:id="rId11"/>
    <p:sldId id="264" r:id="rId12"/>
    <p:sldId id="260" r:id="rId13"/>
    <p:sldId id="268" r:id="rId14"/>
  </p:sldIdLst>
  <p:sldSz cx="14630400" cy="8229600"/>
  <p:notesSz cx="8229600" cy="14630400"/>
  <p:embeddedFontLst>
    <p:embeddedFont>
      <p:font typeface="Alexandria" panose="020B0604020202020204" charset="-78"/>
      <p:regular r:id="rId16"/>
    </p:embeddedFont>
    <p:embeddedFont>
      <p:font typeface="Nobile"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254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85DA0-8799-E84C-7FAC-EF5FF0BF5B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BBB16F-5DBA-D1D6-47C8-80A5C93FDC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059FFE-DB8A-00CB-86CE-94EDAC2E6E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087DA2-D534-1803-CF99-33DE5D872A6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06601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43E89-0678-C962-E154-808873ACC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348CC-3030-BD1C-98BB-5C31944322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7EEB36-312A-7290-E016-7B0D35E395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3EB39D-2F5B-BE09-31C5-10FEB01A865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777746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9689F-0A14-0FB4-201C-8DEFD0B9F1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B7170-FFDD-8E5F-92DC-0D4CA183F4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BA7413-F8F7-2300-27D0-A4AF3EE081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0A21E1-DA4A-B978-59AC-C808E1DEE00F}"/>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272494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AFA5E-53FE-A8D1-BADD-4EBB42C4B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954E8C-0A01-B396-89E1-E913A84FF2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E93EAF-04D8-AA16-F3E4-C08094F742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EF903E-678C-2AD7-40AF-9AB96F06A83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070580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D2DDF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05530" y="1022282"/>
            <a:ext cx="7556421" cy="2111336"/>
          </a:xfrm>
          <a:prstGeom prst="rect">
            <a:avLst/>
          </a:prstGeom>
          <a:noFill/>
          <a:ln/>
        </p:spPr>
        <p:txBody>
          <a:bodyPr wrap="square" lIns="0" tIns="0" rIns="0" bIns="0" rtlCol="0" anchor="t"/>
          <a:lstStyle/>
          <a:p>
            <a:pPr marL="0" indent="0" algn="l">
              <a:lnSpc>
                <a:spcPts val="5550"/>
              </a:lnSpc>
              <a:buNone/>
            </a:pPr>
            <a:r>
              <a:rPr lang="en-US" sz="4450" dirty="0">
                <a:solidFill>
                  <a:srgbClr val="1B1B27"/>
                </a:solidFill>
                <a:latin typeface="Alexandria" pitchFamily="34" charset="0"/>
                <a:ea typeface="Alexandria" pitchFamily="34" charset="-122"/>
                <a:cs typeface="Alexandria" pitchFamily="34" charset="-120"/>
              </a:rPr>
              <a:t>Know Diabetes: A Predictive Analytics Approach</a:t>
            </a:r>
            <a:endParaRPr lang="en-US" sz="4450" dirty="0"/>
          </a:p>
        </p:txBody>
      </p:sp>
      <p:sp>
        <p:nvSpPr>
          <p:cNvPr id="4" name="Text 1"/>
          <p:cNvSpPr/>
          <p:nvPr/>
        </p:nvSpPr>
        <p:spPr>
          <a:xfrm>
            <a:off x="6105530" y="3293572"/>
            <a:ext cx="7556421" cy="4689448"/>
          </a:xfrm>
          <a:prstGeom prst="rect">
            <a:avLst/>
          </a:prstGeom>
          <a:noFill/>
          <a:ln/>
        </p:spPr>
        <p:txBody>
          <a:bodyPr wrap="square" lIns="0" tIns="0" rIns="0" bIns="0" rtlCol="0" anchor="t"/>
          <a:lstStyle/>
          <a:p>
            <a:pPr>
              <a:lnSpc>
                <a:spcPts val="2850"/>
              </a:lnSpc>
            </a:pPr>
            <a:r>
              <a:rPr lang="en-US" sz="1750" u="sng" dirty="0">
                <a:solidFill>
                  <a:srgbClr val="404155"/>
                </a:solidFill>
                <a:latin typeface="Nobile" pitchFamily="34" charset="0"/>
              </a:rPr>
              <a:t>Problem Statement</a:t>
            </a:r>
            <a:br>
              <a:rPr lang="en-US" sz="1750" dirty="0">
                <a:solidFill>
                  <a:srgbClr val="404155"/>
                </a:solidFill>
                <a:latin typeface="Nobile" pitchFamily="34" charset="0"/>
              </a:rPr>
            </a:br>
            <a:r>
              <a:rPr lang="en-US" sz="1750" dirty="0">
                <a:solidFill>
                  <a:srgbClr val="404155"/>
                </a:solidFill>
                <a:latin typeface="Nobile" pitchFamily="34" charset="0"/>
              </a:rPr>
              <a:t>Diabetes is one of the most significant public health challenges, with millions of cases going undiagnosed until serious complications arise.</a:t>
            </a:r>
          </a:p>
          <a:p>
            <a:pPr>
              <a:lnSpc>
                <a:spcPts val="2850"/>
              </a:lnSpc>
            </a:pPr>
            <a:endParaRPr lang="en-US" sz="1750" dirty="0">
              <a:solidFill>
                <a:srgbClr val="404155"/>
              </a:solidFill>
              <a:latin typeface="Nobile" pitchFamily="34" charset="0"/>
            </a:endParaRPr>
          </a:p>
          <a:p>
            <a:pPr>
              <a:lnSpc>
                <a:spcPts val="2850"/>
              </a:lnSpc>
            </a:pPr>
            <a:r>
              <a:rPr lang="en-US" sz="1750" u="sng" dirty="0">
                <a:solidFill>
                  <a:srgbClr val="404155"/>
                </a:solidFill>
                <a:latin typeface="Nobile" pitchFamily="34" charset="0"/>
              </a:rPr>
              <a:t>Proposed Solution</a:t>
            </a:r>
            <a:br>
              <a:rPr lang="en-US" sz="1750" dirty="0">
                <a:solidFill>
                  <a:srgbClr val="404155"/>
                </a:solidFill>
                <a:latin typeface="Nobile" pitchFamily="34" charset="0"/>
              </a:rPr>
            </a:br>
            <a:r>
              <a:rPr lang="en-US" sz="1750" dirty="0">
                <a:solidFill>
                  <a:srgbClr val="404155"/>
                </a:solidFill>
                <a:latin typeface="Nobile" pitchFamily="34" charset="0"/>
              </a:rPr>
              <a:t>Develop a predictive modeling system to identify high-risk individuals before clinical onset, enabling timely interventions that can improve health outcomes and reduce healthcare costs.</a:t>
            </a:r>
          </a:p>
          <a:p>
            <a:pPr>
              <a:lnSpc>
                <a:spcPts val="2850"/>
              </a:lnSpc>
            </a:pPr>
            <a:endParaRPr lang="en-US" sz="1750" dirty="0">
              <a:solidFill>
                <a:srgbClr val="404155"/>
              </a:solidFill>
              <a:latin typeface="Nobile" pitchFamily="34" charset="0"/>
            </a:endParaRPr>
          </a:p>
          <a:p>
            <a:r>
              <a:rPr lang="en-US" sz="1750" u="sng" dirty="0">
                <a:solidFill>
                  <a:srgbClr val="404155"/>
                </a:solidFill>
                <a:latin typeface="Nobile" pitchFamily="34" charset="0"/>
              </a:rPr>
              <a:t>Potential Impact</a:t>
            </a:r>
          </a:p>
          <a:p>
            <a:br>
              <a:rPr lang="en-US" sz="1750" dirty="0">
                <a:solidFill>
                  <a:srgbClr val="404155"/>
                </a:solidFill>
                <a:latin typeface="Nobile" pitchFamily="34" charset="0"/>
              </a:rPr>
            </a:br>
            <a:r>
              <a:rPr lang="en-US" sz="1750" dirty="0">
                <a:solidFill>
                  <a:srgbClr val="404155"/>
                </a:solidFill>
                <a:latin typeface="Nobile" pitchFamily="34" charset="0"/>
              </a:rPr>
              <a:t>Early detection can lower complication rates, improve patient quality of life, and significantly reduce long-term treatment expenses for healthcare systems</a:t>
            </a:r>
            <a:r>
              <a:rPr lang="en-US" sz="1600" dirty="0"/>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980390" y="513517"/>
            <a:ext cx="8156019" cy="882253"/>
          </a:xfrm>
          <a:prstGeom prst="rect">
            <a:avLst/>
          </a:prstGeom>
          <a:noFill/>
          <a:ln/>
        </p:spPr>
        <p:txBody>
          <a:bodyPr wrap="square" lIns="0" tIns="0" rIns="0" bIns="0" rtlCol="0" anchor="t"/>
          <a:lstStyle/>
          <a:p>
            <a:pPr marL="0" indent="0" algn="l">
              <a:lnSpc>
                <a:spcPts val="3450"/>
              </a:lnSpc>
              <a:buNone/>
            </a:pPr>
            <a:r>
              <a:rPr lang="en-US" sz="2750" dirty="0">
                <a:solidFill>
                  <a:srgbClr val="1B1B27"/>
                </a:solidFill>
                <a:latin typeface="Alexandria" pitchFamily="34" charset="0"/>
                <a:ea typeface="Alexandria" pitchFamily="34" charset="-122"/>
                <a:cs typeface="Alexandria" pitchFamily="34" charset="-120"/>
              </a:rPr>
              <a:t>Comprehensive Dataset &amp; Preprocessing Methodology</a:t>
            </a:r>
            <a:endParaRPr lang="en-US" sz="2750" dirty="0"/>
          </a:p>
        </p:txBody>
      </p:sp>
      <p:sp>
        <p:nvSpPr>
          <p:cNvPr id="4" name="Shape 1"/>
          <p:cNvSpPr/>
          <p:nvPr/>
        </p:nvSpPr>
        <p:spPr>
          <a:xfrm>
            <a:off x="5980390" y="1819156"/>
            <a:ext cx="8156019" cy="1266111"/>
          </a:xfrm>
          <a:prstGeom prst="roundRect">
            <a:avLst>
              <a:gd name="adj" fmla="val 5778"/>
            </a:avLst>
          </a:prstGeom>
          <a:solidFill>
            <a:srgbClr val="F9F9FF"/>
          </a:solidFill>
          <a:ln/>
        </p:spPr>
      </p:sp>
      <p:sp>
        <p:nvSpPr>
          <p:cNvPr id="5" name="Shape 2"/>
          <p:cNvSpPr/>
          <p:nvPr/>
        </p:nvSpPr>
        <p:spPr>
          <a:xfrm>
            <a:off x="5980390" y="1803916"/>
            <a:ext cx="8156019" cy="60960"/>
          </a:xfrm>
          <a:prstGeom prst="roundRect">
            <a:avLst>
              <a:gd name="adj" fmla="val 97262"/>
            </a:avLst>
          </a:prstGeom>
          <a:solidFill>
            <a:srgbClr val="1B54DA"/>
          </a:solidFill>
          <a:ln/>
        </p:spPr>
      </p:sp>
      <p:sp>
        <p:nvSpPr>
          <p:cNvPr id="6" name="Shape 3"/>
          <p:cNvSpPr/>
          <p:nvPr/>
        </p:nvSpPr>
        <p:spPr>
          <a:xfrm>
            <a:off x="9846707" y="1607463"/>
            <a:ext cx="423386" cy="423386"/>
          </a:xfrm>
          <a:prstGeom prst="roundRect">
            <a:avLst>
              <a:gd name="adj" fmla="val 215973"/>
            </a:avLst>
          </a:prstGeom>
          <a:solidFill>
            <a:srgbClr val="1B54DA"/>
          </a:solidFill>
          <a:ln/>
        </p:spPr>
      </p:sp>
      <p:sp>
        <p:nvSpPr>
          <p:cNvPr id="7" name="Text 4"/>
          <p:cNvSpPr/>
          <p:nvPr/>
        </p:nvSpPr>
        <p:spPr>
          <a:xfrm>
            <a:off x="9973747" y="1713309"/>
            <a:ext cx="169307" cy="211693"/>
          </a:xfrm>
          <a:prstGeom prst="rect">
            <a:avLst/>
          </a:prstGeom>
          <a:noFill/>
          <a:ln/>
        </p:spPr>
        <p:txBody>
          <a:bodyPr wrap="none" lIns="0" tIns="0" rIns="0" bIns="0" rtlCol="0" anchor="t"/>
          <a:lstStyle/>
          <a:p>
            <a:pPr marL="0" indent="0" algn="l">
              <a:lnSpc>
                <a:spcPts val="2100"/>
              </a:lnSpc>
              <a:buNone/>
            </a:pPr>
            <a:r>
              <a:rPr lang="en-US" sz="1300" dirty="0">
                <a:solidFill>
                  <a:srgbClr val="FFFFFF"/>
                </a:solidFill>
                <a:latin typeface="Alexandria" pitchFamily="34" charset="0"/>
                <a:ea typeface="Alexandria" pitchFamily="34" charset="-122"/>
                <a:cs typeface="Alexandria" pitchFamily="34" charset="-120"/>
              </a:rPr>
              <a:t>1</a:t>
            </a:r>
            <a:endParaRPr lang="en-US" sz="1300" dirty="0"/>
          </a:p>
        </p:txBody>
      </p:sp>
      <p:sp>
        <p:nvSpPr>
          <p:cNvPr id="8" name="Text 5"/>
          <p:cNvSpPr/>
          <p:nvPr/>
        </p:nvSpPr>
        <p:spPr>
          <a:xfrm>
            <a:off x="6136719" y="2172057"/>
            <a:ext cx="2024301" cy="220504"/>
          </a:xfrm>
          <a:prstGeom prst="rect">
            <a:avLst/>
          </a:prstGeom>
          <a:noFill/>
          <a:ln/>
        </p:spPr>
        <p:txBody>
          <a:bodyPr wrap="none" lIns="0" tIns="0" rIns="0" bIns="0" rtlCol="0" anchor="t"/>
          <a:lstStyle/>
          <a:p>
            <a:pPr marL="0" indent="0" algn="l">
              <a:lnSpc>
                <a:spcPts val="1700"/>
              </a:lnSpc>
              <a:buNone/>
            </a:pPr>
            <a:r>
              <a:rPr lang="en-US" sz="1350" dirty="0">
                <a:solidFill>
                  <a:srgbClr val="404155"/>
                </a:solidFill>
                <a:latin typeface="Alexandria" pitchFamily="34" charset="0"/>
                <a:ea typeface="Alexandria" pitchFamily="34" charset="-122"/>
                <a:cs typeface="Alexandria" pitchFamily="34" charset="-120"/>
              </a:rPr>
              <a:t>Robust Data Collection</a:t>
            </a:r>
            <a:endParaRPr lang="en-US" sz="1350" dirty="0"/>
          </a:p>
        </p:txBody>
      </p:sp>
      <p:sp>
        <p:nvSpPr>
          <p:cNvPr id="9" name="Text 6"/>
          <p:cNvSpPr/>
          <p:nvPr/>
        </p:nvSpPr>
        <p:spPr>
          <a:xfrm>
            <a:off x="6136719" y="2477214"/>
            <a:ext cx="7843361" cy="451723"/>
          </a:xfrm>
          <a:prstGeom prst="rect">
            <a:avLst/>
          </a:prstGeom>
          <a:noFill/>
          <a:ln/>
        </p:spPr>
        <p:txBody>
          <a:bodyPr wrap="square" lIns="0" tIns="0" rIns="0" bIns="0" rtlCol="0" anchor="t"/>
          <a:lstStyle/>
          <a:p>
            <a:pPr marL="0" indent="0" algn="l">
              <a:lnSpc>
                <a:spcPts val="1750"/>
              </a:lnSpc>
              <a:buNone/>
            </a:pPr>
            <a:r>
              <a:rPr lang="en-US" sz="1100" dirty="0">
                <a:solidFill>
                  <a:srgbClr val="404155"/>
                </a:solidFill>
                <a:latin typeface="Nobile" pitchFamily="34" charset="0"/>
                <a:ea typeface="Nobile" pitchFamily="34" charset="-122"/>
                <a:cs typeface="Nobile" pitchFamily="34" charset="-120"/>
              </a:rPr>
              <a:t>253,680 records from CDC's Behavioral Risk Factor Surveillance System (BRFSS 2015), providing a comprehensive national sample through telephonic surveys</a:t>
            </a:r>
            <a:endParaRPr lang="en-US" sz="1100" dirty="0"/>
          </a:p>
        </p:txBody>
      </p:sp>
      <p:sp>
        <p:nvSpPr>
          <p:cNvPr id="10" name="Shape 7"/>
          <p:cNvSpPr/>
          <p:nvPr/>
        </p:nvSpPr>
        <p:spPr>
          <a:xfrm>
            <a:off x="5980390" y="3438049"/>
            <a:ext cx="8156019" cy="1266111"/>
          </a:xfrm>
          <a:prstGeom prst="roundRect">
            <a:avLst>
              <a:gd name="adj" fmla="val 5778"/>
            </a:avLst>
          </a:prstGeom>
          <a:solidFill>
            <a:srgbClr val="F9F9FF"/>
          </a:solidFill>
          <a:ln/>
        </p:spPr>
      </p:sp>
      <p:sp>
        <p:nvSpPr>
          <p:cNvPr id="11" name="Shape 8"/>
          <p:cNvSpPr/>
          <p:nvPr/>
        </p:nvSpPr>
        <p:spPr>
          <a:xfrm>
            <a:off x="5980390" y="3422809"/>
            <a:ext cx="8156019" cy="60960"/>
          </a:xfrm>
          <a:prstGeom prst="roundRect">
            <a:avLst>
              <a:gd name="adj" fmla="val 97262"/>
            </a:avLst>
          </a:prstGeom>
          <a:solidFill>
            <a:srgbClr val="1B54DA"/>
          </a:solidFill>
          <a:ln/>
        </p:spPr>
      </p:sp>
      <p:sp>
        <p:nvSpPr>
          <p:cNvPr id="12" name="Shape 9"/>
          <p:cNvSpPr/>
          <p:nvPr/>
        </p:nvSpPr>
        <p:spPr>
          <a:xfrm>
            <a:off x="9846707" y="3226356"/>
            <a:ext cx="423386" cy="423386"/>
          </a:xfrm>
          <a:prstGeom prst="roundRect">
            <a:avLst>
              <a:gd name="adj" fmla="val 215973"/>
            </a:avLst>
          </a:prstGeom>
          <a:solidFill>
            <a:srgbClr val="1B54DA"/>
          </a:solidFill>
          <a:ln/>
        </p:spPr>
      </p:sp>
      <p:sp>
        <p:nvSpPr>
          <p:cNvPr id="13" name="Text 10"/>
          <p:cNvSpPr/>
          <p:nvPr/>
        </p:nvSpPr>
        <p:spPr>
          <a:xfrm>
            <a:off x="9973747" y="3332202"/>
            <a:ext cx="169307" cy="211693"/>
          </a:xfrm>
          <a:prstGeom prst="rect">
            <a:avLst/>
          </a:prstGeom>
          <a:noFill/>
          <a:ln/>
        </p:spPr>
        <p:txBody>
          <a:bodyPr wrap="none" lIns="0" tIns="0" rIns="0" bIns="0" rtlCol="0" anchor="t"/>
          <a:lstStyle/>
          <a:p>
            <a:pPr marL="0" indent="0" algn="l">
              <a:lnSpc>
                <a:spcPts val="2100"/>
              </a:lnSpc>
              <a:buNone/>
            </a:pPr>
            <a:r>
              <a:rPr lang="en-US" sz="1300" dirty="0">
                <a:solidFill>
                  <a:srgbClr val="FFFFFF"/>
                </a:solidFill>
                <a:latin typeface="Alexandria" pitchFamily="34" charset="0"/>
                <a:ea typeface="Alexandria" pitchFamily="34" charset="-122"/>
                <a:cs typeface="Alexandria" pitchFamily="34" charset="-120"/>
              </a:rPr>
              <a:t>2</a:t>
            </a:r>
            <a:endParaRPr lang="en-US" sz="1300" dirty="0"/>
          </a:p>
        </p:txBody>
      </p:sp>
      <p:sp>
        <p:nvSpPr>
          <p:cNvPr id="14" name="Text 11"/>
          <p:cNvSpPr/>
          <p:nvPr/>
        </p:nvSpPr>
        <p:spPr>
          <a:xfrm>
            <a:off x="6136719" y="3790950"/>
            <a:ext cx="1764506" cy="220504"/>
          </a:xfrm>
          <a:prstGeom prst="rect">
            <a:avLst/>
          </a:prstGeom>
          <a:noFill/>
          <a:ln/>
        </p:spPr>
        <p:txBody>
          <a:bodyPr wrap="none" lIns="0" tIns="0" rIns="0" bIns="0" rtlCol="0" anchor="t"/>
          <a:lstStyle/>
          <a:p>
            <a:pPr marL="0" indent="0" algn="l">
              <a:lnSpc>
                <a:spcPts val="1700"/>
              </a:lnSpc>
              <a:buNone/>
            </a:pPr>
            <a:r>
              <a:rPr lang="en-US" sz="1350" dirty="0">
                <a:solidFill>
                  <a:srgbClr val="404155"/>
                </a:solidFill>
                <a:latin typeface="Alexandria" pitchFamily="34" charset="0"/>
                <a:ea typeface="Alexandria" pitchFamily="34" charset="-122"/>
                <a:cs typeface="Alexandria" pitchFamily="34" charset="-120"/>
              </a:rPr>
              <a:t>Rich Feature Set</a:t>
            </a:r>
            <a:endParaRPr lang="en-US" sz="1350" dirty="0"/>
          </a:p>
        </p:txBody>
      </p:sp>
      <p:sp>
        <p:nvSpPr>
          <p:cNvPr id="15" name="Text 12"/>
          <p:cNvSpPr/>
          <p:nvPr/>
        </p:nvSpPr>
        <p:spPr>
          <a:xfrm>
            <a:off x="6136719" y="4096107"/>
            <a:ext cx="7843361" cy="451723"/>
          </a:xfrm>
          <a:prstGeom prst="rect">
            <a:avLst/>
          </a:prstGeom>
          <a:noFill/>
          <a:ln/>
        </p:spPr>
        <p:txBody>
          <a:bodyPr wrap="square" lIns="0" tIns="0" rIns="0" bIns="0" rtlCol="0" anchor="t"/>
          <a:lstStyle/>
          <a:p>
            <a:pPr marL="0" indent="0" algn="l">
              <a:lnSpc>
                <a:spcPts val="1750"/>
              </a:lnSpc>
              <a:buNone/>
            </a:pPr>
            <a:r>
              <a:rPr lang="en-US" sz="1100" dirty="0">
                <a:solidFill>
                  <a:srgbClr val="404155"/>
                </a:solidFill>
                <a:latin typeface="Nobile" pitchFamily="34" charset="0"/>
                <a:ea typeface="Nobile" pitchFamily="34" charset="-122"/>
                <a:cs typeface="Nobile" pitchFamily="34" charset="-120"/>
              </a:rPr>
              <a:t>21 key features including BMI, smoking status, insurance coverage, physical and mental health metrics, dietary habits, and alcohol consumption patterns</a:t>
            </a:r>
            <a:endParaRPr lang="en-US" sz="1100" dirty="0"/>
          </a:p>
        </p:txBody>
      </p:sp>
      <p:sp>
        <p:nvSpPr>
          <p:cNvPr id="16" name="Shape 13"/>
          <p:cNvSpPr/>
          <p:nvPr/>
        </p:nvSpPr>
        <p:spPr>
          <a:xfrm>
            <a:off x="5980390" y="5056942"/>
            <a:ext cx="8156019" cy="1040249"/>
          </a:xfrm>
          <a:prstGeom prst="roundRect">
            <a:avLst>
              <a:gd name="adj" fmla="val 7032"/>
            </a:avLst>
          </a:prstGeom>
          <a:solidFill>
            <a:srgbClr val="F9F9FF"/>
          </a:solidFill>
          <a:ln/>
        </p:spPr>
      </p:sp>
      <p:sp>
        <p:nvSpPr>
          <p:cNvPr id="17" name="Shape 14"/>
          <p:cNvSpPr/>
          <p:nvPr/>
        </p:nvSpPr>
        <p:spPr>
          <a:xfrm>
            <a:off x="5980390" y="5041702"/>
            <a:ext cx="8156019" cy="60960"/>
          </a:xfrm>
          <a:prstGeom prst="roundRect">
            <a:avLst>
              <a:gd name="adj" fmla="val 97262"/>
            </a:avLst>
          </a:prstGeom>
          <a:solidFill>
            <a:srgbClr val="1B54DA"/>
          </a:solidFill>
          <a:ln/>
        </p:spPr>
      </p:sp>
      <p:sp>
        <p:nvSpPr>
          <p:cNvPr id="18" name="Shape 15"/>
          <p:cNvSpPr/>
          <p:nvPr/>
        </p:nvSpPr>
        <p:spPr>
          <a:xfrm>
            <a:off x="9846707" y="4845248"/>
            <a:ext cx="423386" cy="423386"/>
          </a:xfrm>
          <a:prstGeom prst="roundRect">
            <a:avLst>
              <a:gd name="adj" fmla="val 215973"/>
            </a:avLst>
          </a:prstGeom>
          <a:solidFill>
            <a:srgbClr val="1B54DA"/>
          </a:solidFill>
          <a:ln/>
        </p:spPr>
      </p:sp>
      <p:sp>
        <p:nvSpPr>
          <p:cNvPr id="19" name="Text 16"/>
          <p:cNvSpPr/>
          <p:nvPr/>
        </p:nvSpPr>
        <p:spPr>
          <a:xfrm>
            <a:off x="9973747" y="4951095"/>
            <a:ext cx="169307" cy="211693"/>
          </a:xfrm>
          <a:prstGeom prst="rect">
            <a:avLst/>
          </a:prstGeom>
          <a:noFill/>
          <a:ln/>
        </p:spPr>
        <p:txBody>
          <a:bodyPr wrap="none" lIns="0" tIns="0" rIns="0" bIns="0" rtlCol="0" anchor="t"/>
          <a:lstStyle/>
          <a:p>
            <a:pPr marL="0" indent="0" algn="l">
              <a:lnSpc>
                <a:spcPts val="2100"/>
              </a:lnSpc>
              <a:buNone/>
            </a:pPr>
            <a:r>
              <a:rPr lang="en-US" sz="1300" dirty="0">
                <a:solidFill>
                  <a:srgbClr val="FFFFFF"/>
                </a:solidFill>
                <a:latin typeface="Alexandria" pitchFamily="34" charset="0"/>
                <a:ea typeface="Alexandria" pitchFamily="34" charset="-122"/>
                <a:cs typeface="Alexandria" pitchFamily="34" charset="-120"/>
              </a:rPr>
              <a:t>3</a:t>
            </a:r>
            <a:endParaRPr lang="en-US" sz="1300" dirty="0"/>
          </a:p>
        </p:txBody>
      </p:sp>
      <p:sp>
        <p:nvSpPr>
          <p:cNvPr id="20" name="Text 17"/>
          <p:cNvSpPr/>
          <p:nvPr/>
        </p:nvSpPr>
        <p:spPr>
          <a:xfrm>
            <a:off x="6136719" y="5409843"/>
            <a:ext cx="1825109" cy="220504"/>
          </a:xfrm>
          <a:prstGeom prst="rect">
            <a:avLst/>
          </a:prstGeom>
          <a:noFill/>
          <a:ln/>
        </p:spPr>
        <p:txBody>
          <a:bodyPr wrap="none" lIns="0" tIns="0" rIns="0" bIns="0" rtlCol="0" anchor="t"/>
          <a:lstStyle/>
          <a:p>
            <a:pPr marL="0" indent="0" algn="l">
              <a:lnSpc>
                <a:spcPts val="1700"/>
              </a:lnSpc>
              <a:buNone/>
            </a:pPr>
            <a:r>
              <a:rPr lang="en-US" sz="1350" dirty="0">
                <a:solidFill>
                  <a:srgbClr val="404155"/>
                </a:solidFill>
                <a:latin typeface="Alexandria" pitchFamily="34" charset="0"/>
                <a:ea typeface="Alexandria" pitchFamily="34" charset="-122"/>
                <a:cs typeface="Alexandria" pitchFamily="34" charset="-120"/>
              </a:rPr>
              <a:t>Clear Target Variable</a:t>
            </a:r>
            <a:endParaRPr lang="en-US" sz="1350" dirty="0"/>
          </a:p>
        </p:txBody>
      </p:sp>
      <p:sp>
        <p:nvSpPr>
          <p:cNvPr id="21" name="Text 18"/>
          <p:cNvSpPr/>
          <p:nvPr/>
        </p:nvSpPr>
        <p:spPr>
          <a:xfrm>
            <a:off x="6136719" y="5715000"/>
            <a:ext cx="7843361" cy="225862"/>
          </a:xfrm>
          <a:prstGeom prst="rect">
            <a:avLst/>
          </a:prstGeom>
          <a:noFill/>
          <a:ln/>
        </p:spPr>
        <p:txBody>
          <a:bodyPr wrap="none" lIns="0" tIns="0" rIns="0" bIns="0" rtlCol="0" anchor="t"/>
          <a:lstStyle/>
          <a:p>
            <a:pPr marL="0" indent="0" algn="l">
              <a:lnSpc>
                <a:spcPts val="1750"/>
              </a:lnSpc>
              <a:buNone/>
            </a:pPr>
            <a:r>
              <a:rPr lang="en-US" sz="1100" dirty="0">
                <a:solidFill>
                  <a:srgbClr val="404155"/>
                </a:solidFill>
                <a:latin typeface="Nobile" pitchFamily="34" charset="0"/>
                <a:ea typeface="Nobile" pitchFamily="34" charset="-122"/>
                <a:cs typeface="Nobile" pitchFamily="34" charset="-120"/>
              </a:rPr>
              <a:t>Binary outcome indicator (Diabetes Class): 0 - No Diabetes, 1 - Has Diabetes, providing a clean classification target</a:t>
            </a:r>
            <a:endParaRPr lang="en-US" sz="1100" dirty="0"/>
          </a:p>
        </p:txBody>
      </p:sp>
      <p:sp>
        <p:nvSpPr>
          <p:cNvPr id="22" name="Shape 19"/>
          <p:cNvSpPr/>
          <p:nvPr/>
        </p:nvSpPr>
        <p:spPr>
          <a:xfrm>
            <a:off x="5980390" y="6449973"/>
            <a:ext cx="8156019" cy="1266111"/>
          </a:xfrm>
          <a:prstGeom prst="roundRect">
            <a:avLst>
              <a:gd name="adj" fmla="val 5778"/>
            </a:avLst>
          </a:prstGeom>
          <a:solidFill>
            <a:srgbClr val="F9F9FF"/>
          </a:solidFill>
          <a:ln/>
        </p:spPr>
      </p:sp>
      <p:sp>
        <p:nvSpPr>
          <p:cNvPr id="23" name="Shape 20"/>
          <p:cNvSpPr/>
          <p:nvPr/>
        </p:nvSpPr>
        <p:spPr>
          <a:xfrm>
            <a:off x="5980390" y="6434733"/>
            <a:ext cx="8156019" cy="60960"/>
          </a:xfrm>
          <a:prstGeom prst="roundRect">
            <a:avLst>
              <a:gd name="adj" fmla="val 97262"/>
            </a:avLst>
          </a:prstGeom>
          <a:solidFill>
            <a:srgbClr val="1B54DA"/>
          </a:solidFill>
          <a:ln/>
        </p:spPr>
      </p:sp>
      <p:sp>
        <p:nvSpPr>
          <p:cNvPr id="24" name="Shape 21"/>
          <p:cNvSpPr/>
          <p:nvPr/>
        </p:nvSpPr>
        <p:spPr>
          <a:xfrm>
            <a:off x="9846707" y="6238280"/>
            <a:ext cx="423386" cy="423386"/>
          </a:xfrm>
          <a:prstGeom prst="roundRect">
            <a:avLst>
              <a:gd name="adj" fmla="val 215973"/>
            </a:avLst>
          </a:prstGeom>
          <a:solidFill>
            <a:srgbClr val="1B54DA"/>
          </a:solidFill>
          <a:ln/>
        </p:spPr>
      </p:sp>
      <p:sp>
        <p:nvSpPr>
          <p:cNvPr id="25" name="Text 22"/>
          <p:cNvSpPr/>
          <p:nvPr/>
        </p:nvSpPr>
        <p:spPr>
          <a:xfrm>
            <a:off x="9973747" y="6344126"/>
            <a:ext cx="169307" cy="211693"/>
          </a:xfrm>
          <a:prstGeom prst="rect">
            <a:avLst/>
          </a:prstGeom>
          <a:noFill/>
          <a:ln/>
        </p:spPr>
        <p:txBody>
          <a:bodyPr wrap="none" lIns="0" tIns="0" rIns="0" bIns="0" rtlCol="0" anchor="t"/>
          <a:lstStyle/>
          <a:p>
            <a:pPr marL="0" indent="0" algn="l">
              <a:lnSpc>
                <a:spcPts val="2100"/>
              </a:lnSpc>
              <a:buNone/>
            </a:pPr>
            <a:r>
              <a:rPr lang="en-US" sz="1300" dirty="0">
                <a:solidFill>
                  <a:srgbClr val="FFFFFF"/>
                </a:solidFill>
                <a:latin typeface="Alexandria" pitchFamily="34" charset="0"/>
                <a:ea typeface="Alexandria" pitchFamily="34" charset="-122"/>
                <a:cs typeface="Alexandria" pitchFamily="34" charset="-120"/>
              </a:rPr>
              <a:t>4</a:t>
            </a:r>
            <a:endParaRPr lang="en-US" sz="1300" dirty="0"/>
          </a:p>
        </p:txBody>
      </p:sp>
      <p:sp>
        <p:nvSpPr>
          <p:cNvPr id="26" name="Text 23"/>
          <p:cNvSpPr/>
          <p:nvPr/>
        </p:nvSpPr>
        <p:spPr>
          <a:xfrm>
            <a:off x="6136719" y="6802874"/>
            <a:ext cx="2130623" cy="220504"/>
          </a:xfrm>
          <a:prstGeom prst="rect">
            <a:avLst/>
          </a:prstGeom>
          <a:noFill/>
          <a:ln/>
        </p:spPr>
        <p:txBody>
          <a:bodyPr wrap="none" lIns="0" tIns="0" rIns="0" bIns="0" rtlCol="0" anchor="t"/>
          <a:lstStyle/>
          <a:p>
            <a:pPr marL="0" indent="0" algn="l">
              <a:lnSpc>
                <a:spcPts val="1700"/>
              </a:lnSpc>
              <a:buNone/>
            </a:pPr>
            <a:r>
              <a:rPr lang="en-US" sz="1350" dirty="0">
                <a:solidFill>
                  <a:srgbClr val="404155"/>
                </a:solidFill>
                <a:latin typeface="Alexandria" pitchFamily="34" charset="0"/>
                <a:ea typeface="Alexandria" pitchFamily="34" charset="-122"/>
                <a:cs typeface="Alexandria" pitchFamily="34" charset="-120"/>
              </a:rPr>
              <a:t>Thorough Preprocessing</a:t>
            </a:r>
            <a:endParaRPr lang="en-US" sz="1350" dirty="0"/>
          </a:p>
        </p:txBody>
      </p:sp>
      <p:sp>
        <p:nvSpPr>
          <p:cNvPr id="27" name="Text 24"/>
          <p:cNvSpPr/>
          <p:nvPr/>
        </p:nvSpPr>
        <p:spPr>
          <a:xfrm>
            <a:off x="6136719" y="7108031"/>
            <a:ext cx="7843361" cy="451723"/>
          </a:xfrm>
          <a:prstGeom prst="rect">
            <a:avLst/>
          </a:prstGeom>
          <a:noFill/>
          <a:ln/>
        </p:spPr>
        <p:txBody>
          <a:bodyPr wrap="square" lIns="0" tIns="0" rIns="0" bIns="0" rtlCol="0" anchor="t"/>
          <a:lstStyle/>
          <a:p>
            <a:pPr marL="0" indent="0" algn="l">
              <a:lnSpc>
                <a:spcPts val="1750"/>
              </a:lnSpc>
              <a:buNone/>
            </a:pPr>
            <a:r>
              <a:rPr lang="en-US" sz="1100" dirty="0">
                <a:solidFill>
                  <a:srgbClr val="404155"/>
                </a:solidFill>
                <a:latin typeface="Nobile" pitchFamily="34" charset="0"/>
                <a:ea typeface="Nobile" pitchFamily="34" charset="-122"/>
                <a:cs typeface="Nobile" pitchFamily="34" charset="-120"/>
              </a:rPr>
              <a:t>Comprehensive data cleaning including column standardization, null value handling, duplicate handling and appropriate encoding techniques (one-hot and ordinal)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90D84-B99A-0C15-486D-748CAECB985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62C6814-E616-AA88-1311-262449950504}"/>
              </a:ext>
            </a:extLst>
          </p:cNvPr>
          <p:cNvSpPr/>
          <p:nvPr/>
        </p:nvSpPr>
        <p:spPr>
          <a:xfrm>
            <a:off x="729615" y="573286"/>
            <a:ext cx="11267599" cy="651510"/>
          </a:xfrm>
          <a:prstGeom prst="rect">
            <a:avLst/>
          </a:prstGeom>
          <a:noFill/>
          <a:ln/>
        </p:spPr>
        <p:txBody>
          <a:bodyPr wrap="none" lIns="0" tIns="0" rIns="0" bIns="0" rtlCol="0" anchor="t"/>
          <a:lstStyle/>
          <a:p>
            <a:pPr marL="0" indent="0" algn="l">
              <a:lnSpc>
                <a:spcPts val="5100"/>
              </a:lnSpc>
              <a:buNone/>
            </a:pPr>
            <a:r>
              <a:rPr lang="en-US" sz="4100" dirty="0">
                <a:solidFill>
                  <a:srgbClr val="1B1B27"/>
                </a:solidFill>
                <a:latin typeface="Alexandria" pitchFamily="34" charset="0"/>
                <a:ea typeface="Alexandria" pitchFamily="34" charset="-122"/>
                <a:cs typeface="Alexandria" pitchFamily="34" charset="-120"/>
              </a:rPr>
              <a:t>Key Insights from Exploratory Data Analysis</a:t>
            </a:r>
            <a:endParaRPr lang="en-US" sz="4100" dirty="0"/>
          </a:p>
        </p:txBody>
      </p:sp>
      <p:sp>
        <p:nvSpPr>
          <p:cNvPr id="4" name="Text 1">
            <a:extLst>
              <a:ext uri="{FF2B5EF4-FFF2-40B4-BE49-F238E27FC236}">
                <a16:creationId xmlns:a16="http://schemas.microsoft.com/office/drawing/2014/main" id="{28119BCE-A3D0-0899-13D2-52487EDB7F16}"/>
              </a:ext>
            </a:extLst>
          </p:cNvPr>
          <p:cNvSpPr/>
          <p:nvPr/>
        </p:nvSpPr>
        <p:spPr>
          <a:xfrm>
            <a:off x="729615" y="3047167"/>
            <a:ext cx="6331268" cy="333494"/>
          </a:xfrm>
          <a:prstGeom prst="rect">
            <a:avLst/>
          </a:prstGeom>
          <a:noFill/>
          <a:ln/>
        </p:spPr>
        <p:txBody>
          <a:bodyPr wrap="none" lIns="0" tIns="0" rIns="0" bIns="0" rtlCol="0" anchor="t"/>
          <a:lstStyle/>
          <a:p>
            <a:pPr marL="0" indent="0" algn="ctr">
              <a:lnSpc>
                <a:spcPts val="2600"/>
              </a:lnSpc>
              <a:buNone/>
            </a:pPr>
            <a:endParaRPr lang="en-US" sz="1600" dirty="0"/>
          </a:p>
        </p:txBody>
      </p:sp>
      <p:sp>
        <p:nvSpPr>
          <p:cNvPr id="5" name="Text 2">
            <a:extLst>
              <a:ext uri="{FF2B5EF4-FFF2-40B4-BE49-F238E27FC236}">
                <a16:creationId xmlns:a16="http://schemas.microsoft.com/office/drawing/2014/main" id="{28CE773E-9C6F-DECB-A1D3-3288E683E1EA}"/>
              </a:ext>
            </a:extLst>
          </p:cNvPr>
          <p:cNvSpPr/>
          <p:nvPr/>
        </p:nvSpPr>
        <p:spPr>
          <a:xfrm>
            <a:off x="729615" y="3568184"/>
            <a:ext cx="6331268" cy="333494"/>
          </a:xfrm>
          <a:prstGeom prst="rect">
            <a:avLst/>
          </a:prstGeom>
          <a:noFill/>
          <a:ln/>
        </p:spPr>
        <p:txBody>
          <a:bodyPr wrap="none" lIns="0" tIns="0" rIns="0" bIns="0" rtlCol="0" anchor="t"/>
          <a:lstStyle/>
          <a:p>
            <a:pPr marL="0" indent="0" algn="ctr">
              <a:lnSpc>
                <a:spcPts val="2600"/>
              </a:lnSpc>
              <a:buNone/>
            </a:pPr>
            <a:endParaRPr lang="en-US" sz="1600" dirty="0"/>
          </a:p>
        </p:txBody>
      </p:sp>
      <p:sp>
        <p:nvSpPr>
          <p:cNvPr id="10" name="Shape 7">
            <a:extLst>
              <a:ext uri="{FF2B5EF4-FFF2-40B4-BE49-F238E27FC236}">
                <a16:creationId xmlns:a16="http://schemas.microsoft.com/office/drawing/2014/main" id="{757330F0-E302-30B1-6441-B40AC0F5423A}"/>
              </a:ext>
            </a:extLst>
          </p:cNvPr>
          <p:cNvSpPr/>
          <p:nvPr/>
        </p:nvSpPr>
        <p:spPr>
          <a:xfrm>
            <a:off x="729615" y="6238346"/>
            <a:ext cx="468987" cy="468987"/>
          </a:xfrm>
          <a:prstGeom prst="roundRect">
            <a:avLst>
              <a:gd name="adj" fmla="val 18671"/>
            </a:avLst>
          </a:prstGeom>
          <a:solidFill>
            <a:srgbClr val="D2DDF9"/>
          </a:solidFill>
          <a:ln w="7620">
            <a:solidFill>
              <a:srgbClr val="B8C3DF"/>
            </a:solidFill>
            <a:prstDash val="solid"/>
          </a:ln>
        </p:spPr>
      </p:sp>
      <p:sp>
        <p:nvSpPr>
          <p:cNvPr id="12" name="Text 9">
            <a:extLst>
              <a:ext uri="{FF2B5EF4-FFF2-40B4-BE49-F238E27FC236}">
                <a16:creationId xmlns:a16="http://schemas.microsoft.com/office/drawing/2014/main" id="{17F446FA-BD8F-7B32-F153-0DA3DF20EDD7}"/>
              </a:ext>
            </a:extLst>
          </p:cNvPr>
          <p:cNvSpPr/>
          <p:nvPr/>
        </p:nvSpPr>
        <p:spPr>
          <a:xfrm>
            <a:off x="1407081" y="6160257"/>
            <a:ext cx="5653802" cy="1000482"/>
          </a:xfrm>
          <a:prstGeom prst="rect">
            <a:avLst/>
          </a:prstGeom>
          <a:noFill/>
          <a:ln/>
        </p:spPr>
        <p:txBody>
          <a:bodyPr wrap="square" lIns="0" tIns="0" rIns="0" bIns="0" rtlCol="0" anchor="t"/>
          <a:lstStyle/>
          <a:p>
            <a:pPr>
              <a:lnSpc>
                <a:spcPts val="2600"/>
              </a:lnSpc>
            </a:pPr>
            <a:r>
              <a:rPr lang="en-US" sz="1600" dirty="0">
                <a:solidFill>
                  <a:srgbClr val="404155"/>
                </a:solidFill>
                <a:latin typeface="Nobile" pitchFamily="34" charset="0"/>
              </a:rPr>
              <a:t>Class distribution is highly imbalanced — ~85% of respondents are non-diabetic, while only ~15% are diabetic.</a:t>
            </a:r>
          </a:p>
        </p:txBody>
      </p:sp>
      <p:sp>
        <p:nvSpPr>
          <p:cNvPr id="15" name="Text 12">
            <a:extLst>
              <a:ext uri="{FF2B5EF4-FFF2-40B4-BE49-F238E27FC236}">
                <a16:creationId xmlns:a16="http://schemas.microsoft.com/office/drawing/2014/main" id="{EB2A2B6D-FE61-B526-7B53-A024121F606C}"/>
              </a:ext>
            </a:extLst>
          </p:cNvPr>
          <p:cNvSpPr/>
          <p:nvPr/>
        </p:nvSpPr>
        <p:spPr>
          <a:xfrm>
            <a:off x="7060883" y="6163045"/>
            <a:ext cx="5653802" cy="1000482"/>
          </a:xfrm>
          <a:prstGeom prst="rect">
            <a:avLst/>
          </a:prstGeom>
          <a:noFill/>
          <a:ln/>
        </p:spPr>
        <p:txBody>
          <a:bodyPr wrap="square" lIns="0" tIns="0" rIns="0" bIns="0" rtlCol="0" anchor="t"/>
          <a:lstStyle/>
          <a:p>
            <a:pPr>
              <a:lnSpc>
                <a:spcPts val="2600"/>
              </a:lnSpc>
            </a:pPr>
            <a:r>
              <a:rPr lang="en-US" sz="1600" dirty="0">
                <a:solidFill>
                  <a:srgbClr val="404155"/>
                </a:solidFill>
                <a:latin typeface="Nobile" pitchFamily="34" charset="0"/>
              </a:rPr>
              <a:t>BMI is notably higher among diabetics . BMI strongly linked to diabetes risk</a:t>
            </a:r>
          </a:p>
        </p:txBody>
      </p:sp>
      <p:pic>
        <p:nvPicPr>
          <p:cNvPr id="7" name="Picture 6">
            <a:extLst>
              <a:ext uri="{FF2B5EF4-FFF2-40B4-BE49-F238E27FC236}">
                <a16:creationId xmlns:a16="http://schemas.microsoft.com/office/drawing/2014/main" id="{3CD1C393-DBF2-CE1E-97EE-087F454A8B22}"/>
              </a:ext>
            </a:extLst>
          </p:cNvPr>
          <p:cNvPicPr>
            <a:picLocks noChangeAspect="1"/>
          </p:cNvPicPr>
          <p:nvPr/>
        </p:nvPicPr>
        <p:blipFill>
          <a:blip r:embed="rId3"/>
          <a:stretch>
            <a:fillRect/>
          </a:stretch>
        </p:blipFill>
        <p:spPr>
          <a:xfrm>
            <a:off x="841396" y="1522267"/>
            <a:ext cx="5508033" cy="3969898"/>
          </a:xfrm>
          <a:prstGeom prst="rect">
            <a:avLst/>
          </a:prstGeom>
        </p:spPr>
      </p:pic>
      <p:pic>
        <p:nvPicPr>
          <p:cNvPr id="9" name="Picture 8">
            <a:extLst>
              <a:ext uri="{FF2B5EF4-FFF2-40B4-BE49-F238E27FC236}">
                <a16:creationId xmlns:a16="http://schemas.microsoft.com/office/drawing/2014/main" id="{04D1D544-DEA7-DD00-1369-86C60CB8FAFD}"/>
              </a:ext>
            </a:extLst>
          </p:cNvPr>
          <p:cNvPicPr>
            <a:picLocks noChangeAspect="1"/>
          </p:cNvPicPr>
          <p:nvPr/>
        </p:nvPicPr>
        <p:blipFill>
          <a:blip r:embed="rId4"/>
          <a:stretch>
            <a:fillRect/>
          </a:stretch>
        </p:blipFill>
        <p:spPr>
          <a:xfrm>
            <a:off x="6893704" y="1522266"/>
            <a:ext cx="6401056" cy="3969898"/>
          </a:xfrm>
          <a:prstGeom prst="rect">
            <a:avLst/>
          </a:prstGeom>
        </p:spPr>
      </p:pic>
    </p:spTree>
    <p:extLst>
      <p:ext uri="{BB962C8B-B14F-4D97-AF65-F5344CB8AC3E}">
        <p14:creationId xmlns:p14="http://schemas.microsoft.com/office/powerpoint/2010/main" val="1275302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32C52-F1C4-DA10-8CC8-F440BF10E83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DCD1301-0235-C241-C988-1972A46FA1E7}"/>
              </a:ext>
            </a:extLst>
          </p:cNvPr>
          <p:cNvSpPr/>
          <p:nvPr/>
        </p:nvSpPr>
        <p:spPr>
          <a:xfrm>
            <a:off x="729615" y="573286"/>
            <a:ext cx="11267599" cy="651510"/>
          </a:xfrm>
          <a:prstGeom prst="rect">
            <a:avLst/>
          </a:prstGeom>
          <a:noFill/>
          <a:ln/>
        </p:spPr>
        <p:txBody>
          <a:bodyPr wrap="none" lIns="0" tIns="0" rIns="0" bIns="0" rtlCol="0" anchor="t"/>
          <a:lstStyle/>
          <a:p>
            <a:pPr marL="0" indent="0" algn="l">
              <a:lnSpc>
                <a:spcPts val="5100"/>
              </a:lnSpc>
              <a:buNone/>
            </a:pPr>
            <a:r>
              <a:rPr lang="en-US" sz="4100" dirty="0">
                <a:solidFill>
                  <a:srgbClr val="1B1B27"/>
                </a:solidFill>
                <a:latin typeface="Alexandria" pitchFamily="34" charset="0"/>
                <a:ea typeface="Alexandria" pitchFamily="34" charset="-122"/>
                <a:cs typeface="Alexandria" pitchFamily="34" charset="-120"/>
              </a:rPr>
              <a:t>Key Insights from Exploratory Data Analysis</a:t>
            </a:r>
            <a:endParaRPr lang="en-US" sz="4100" dirty="0"/>
          </a:p>
        </p:txBody>
      </p:sp>
      <p:sp>
        <p:nvSpPr>
          <p:cNvPr id="4" name="Text 1">
            <a:extLst>
              <a:ext uri="{FF2B5EF4-FFF2-40B4-BE49-F238E27FC236}">
                <a16:creationId xmlns:a16="http://schemas.microsoft.com/office/drawing/2014/main" id="{7DD3E305-0645-B0A9-5BAB-196CEB2B7E0E}"/>
              </a:ext>
            </a:extLst>
          </p:cNvPr>
          <p:cNvSpPr/>
          <p:nvPr/>
        </p:nvSpPr>
        <p:spPr>
          <a:xfrm>
            <a:off x="729615" y="3047167"/>
            <a:ext cx="6331268" cy="333494"/>
          </a:xfrm>
          <a:prstGeom prst="rect">
            <a:avLst/>
          </a:prstGeom>
          <a:noFill/>
          <a:ln/>
        </p:spPr>
        <p:txBody>
          <a:bodyPr wrap="none" lIns="0" tIns="0" rIns="0" bIns="0" rtlCol="0" anchor="t"/>
          <a:lstStyle/>
          <a:p>
            <a:pPr marL="0" indent="0" algn="ctr">
              <a:lnSpc>
                <a:spcPts val="2600"/>
              </a:lnSpc>
              <a:buNone/>
            </a:pPr>
            <a:endParaRPr lang="en-US" sz="1600" dirty="0"/>
          </a:p>
        </p:txBody>
      </p:sp>
      <p:sp>
        <p:nvSpPr>
          <p:cNvPr id="5" name="Text 2">
            <a:extLst>
              <a:ext uri="{FF2B5EF4-FFF2-40B4-BE49-F238E27FC236}">
                <a16:creationId xmlns:a16="http://schemas.microsoft.com/office/drawing/2014/main" id="{F6742DA9-7547-4232-ACB4-BE9D1D7F0110}"/>
              </a:ext>
            </a:extLst>
          </p:cNvPr>
          <p:cNvSpPr/>
          <p:nvPr/>
        </p:nvSpPr>
        <p:spPr>
          <a:xfrm>
            <a:off x="729615" y="3568184"/>
            <a:ext cx="6331268" cy="333494"/>
          </a:xfrm>
          <a:prstGeom prst="rect">
            <a:avLst/>
          </a:prstGeom>
          <a:noFill/>
          <a:ln/>
        </p:spPr>
        <p:txBody>
          <a:bodyPr wrap="none" lIns="0" tIns="0" rIns="0" bIns="0" rtlCol="0" anchor="t"/>
          <a:lstStyle/>
          <a:p>
            <a:pPr marL="0" indent="0" algn="ctr">
              <a:lnSpc>
                <a:spcPts val="2600"/>
              </a:lnSpc>
              <a:buNone/>
            </a:pPr>
            <a:endParaRPr lang="en-US" sz="1600" dirty="0"/>
          </a:p>
        </p:txBody>
      </p:sp>
      <p:sp>
        <p:nvSpPr>
          <p:cNvPr id="10" name="Shape 7">
            <a:extLst>
              <a:ext uri="{FF2B5EF4-FFF2-40B4-BE49-F238E27FC236}">
                <a16:creationId xmlns:a16="http://schemas.microsoft.com/office/drawing/2014/main" id="{2B9A358D-8E55-CF86-BD85-728E383DC862}"/>
              </a:ext>
            </a:extLst>
          </p:cNvPr>
          <p:cNvSpPr/>
          <p:nvPr/>
        </p:nvSpPr>
        <p:spPr>
          <a:xfrm>
            <a:off x="403916" y="6340789"/>
            <a:ext cx="468987" cy="468987"/>
          </a:xfrm>
          <a:prstGeom prst="roundRect">
            <a:avLst>
              <a:gd name="adj" fmla="val 18671"/>
            </a:avLst>
          </a:prstGeom>
          <a:solidFill>
            <a:srgbClr val="D2DDF9"/>
          </a:solidFill>
          <a:ln w="7620">
            <a:solidFill>
              <a:srgbClr val="B8C3DF"/>
            </a:solidFill>
            <a:prstDash val="solid"/>
          </a:ln>
        </p:spPr>
      </p:sp>
      <p:sp>
        <p:nvSpPr>
          <p:cNvPr id="12" name="Text 9">
            <a:extLst>
              <a:ext uri="{FF2B5EF4-FFF2-40B4-BE49-F238E27FC236}">
                <a16:creationId xmlns:a16="http://schemas.microsoft.com/office/drawing/2014/main" id="{A366561A-F0DD-BE63-F417-618C757DAFA5}"/>
              </a:ext>
            </a:extLst>
          </p:cNvPr>
          <p:cNvSpPr/>
          <p:nvPr/>
        </p:nvSpPr>
        <p:spPr>
          <a:xfrm>
            <a:off x="1068348" y="6352228"/>
            <a:ext cx="5653802" cy="1000482"/>
          </a:xfrm>
          <a:prstGeom prst="rect">
            <a:avLst/>
          </a:prstGeom>
          <a:noFill/>
          <a:ln/>
        </p:spPr>
        <p:txBody>
          <a:bodyPr wrap="square" lIns="0" tIns="0" rIns="0" bIns="0" rtlCol="0" anchor="t"/>
          <a:lstStyle/>
          <a:p>
            <a:pPr>
              <a:lnSpc>
                <a:spcPts val="2600"/>
              </a:lnSpc>
            </a:pPr>
            <a:r>
              <a:rPr lang="en-US" sz="1600" dirty="0">
                <a:solidFill>
                  <a:srgbClr val="404155"/>
                </a:solidFill>
                <a:latin typeface="Nobile" pitchFamily="34" charset="0"/>
              </a:rPr>
              <a:t>Poor mental health days are higher among diabetics</a:t>
            </a:r>
          </a:p>
        </p:txBody>
      </p:sp>
      <p:sp>
        <p:nvSpPr>
          <p:cNvPr id="15" name="Text 12">
            <a:extLst>
              <a:ext uri="{FF2B5EF4-FFF2-40B4-BE49-F238E27FC236}">
                <a16:creationId xmlns:a16="http://schemas.microsoft.com/office/drawing/2014/main" id="{312DAB1B-E173-E5F0-9775-AF7EF2A127FB}"/>
              </a:ext>
            </a:extLst>
          </p:cNvPr>
          <p:cNvSpPr/>
          <p:nvPr/>
        </p:nvSpPr>
        <p:spPr>
          <a:xfrm>
            <a:off x="7705617" y="6268401"/>
            <a:ext cx="5653802" cy="1000482"/>
          </a:xfrm>
          <a:prstGeom prst="rect">
            <a:avLst/>
          </a:prstGeom>
          <a:noFill/>
          <a:ln/>
        </p:spPr>
        <p:txBody>
          <a:bodyPr wrap="square" lIns="0" tIns="0" rIns="0" bIns="0" rtlCol="0" anchor="t"/>
          <a:lstStyle/>
          <a:p>
            <a:pPr>
              <a:lnSpc>
                <a:spcPts val="2600"/>
              </a:lnSpc>
            </a:pPr>
            <a:r>
              <a:rPr lang="en-US" sz="1600" dirty="0">
                <a:solidFill>
                  <a:srgbClr val="404155"/>
                </a:solidFill>
                <a:latin typeface="Nobile" pitchFamily="34" charset="0"/>
              </a:rPr>
              <a:t>Poor physical health days are significantly higher in diabetics, with a wider range of severe cases</a:t>
            </a:r>
          </a:p>
        </p:txBody>
      </p:sp>
      <p:pic>
        <p:nvPicPr>
          <p:cNvPr id="6" name="Picture 5">
            <a:extLst>
              <a:ext uri="{FF2B5EF4-FFF2-40B4-BE49-F238E27FC236}">
                <a16:creationId xmlns:a16="http://schemas.microsoft.com/office/drawing/2014/main" id="{30B07994-9268-6C10-950C-5D00209FDD39}"/>
              </a:ext>
            </a:extLst>
          </p:cNvPr>
          <p:cNvPicPr>
            <a:picLocks noChangeAspect="1"/>
          </p:cNvPicPr>
          <p:nvPr/>
        </p:nvPicPr>
        <p:blipFill>
          <a:blip r:embed="rId3"/>
          <a:stretch>
            <a:fillRect/>
          </a:stretch>
        </p:blipFill>
        <p:spPr>
          <a:xfrm>
            <a:off x="286409" y="1522266"/>
            <a:ext cx="6331269" cy="4474473"/>
          </a:xfrm>
          <a:prstGeom prst="rect">
            <a:avLst/>
          </a:prstGeom>
        </p:spPr>
      </p:pic>
      <p:pic>
        <p:nvPicPr>
          <p:cNvPr id="11" name="Picture 10">
            <a:extLst>
              <a:ext uri="{FF2B5EF4-FFF2-40B4-BE49-F238E27FC236}">
                <a16:creationId xmlns:a16="http://schemas.microsoft.com/office/drawing/2014/main" id="{3EE0424F-EDCF-C591-5204-EDD8A4EEA414}"/>
              </a:ext>
            </a:extLst>
          </p:cNvPr>
          <p:cNvPicPr>
            <a:picLocks noChangeAspect="1"/>
          </p:cNvPicPr>
          <p:nvPr/>
        </p:nvPicPr>
        <p:blipFill>
          <a:blip r:embed="rId4"/>
          <a:stretch>
            <a:fillRect/>
          </a:stretch>
        </p:blipFill>
        <p:spPr>
          <a:xfrm>
            <a:off x="7705617" y="1497694"/>
            <a:ext cx="5869154" cy="4474473"/>
          </a:xfrm>
          <a:prstGeom prst="rect">
            <a:avLst/>
          </a:prstGeom>
        </p:spPr>
      </p:pic>
    </p:spTree>
    <p:extLst>
      <p:ext uri="{BB962C8B-B14F-4D97-AF65-F5344CB8AC3E}">
        <p14:creationId xmlns:p14="http://schemas.microsoft.com/office/powerpoint/2010/main" val="3957045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4642C-6407-F316-02FD-7298BCC86A4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3B62DFC-56D3-7FA7-BC75-242D408F593F}"/>
              </a:ext>
            </a:extLst>
          </p:cNvPr>
          <p:cNvSpPr/>
          <p:nvPr/>
        </p:nvSpPr>
        <p:spPr>
          <a:xfrm>
            <a:off x="729615" y="573286"/>
            <a:ext cx="11267599" cy="651510"/>
          </a:xfrm>
          <a:prstGeom prst="rect">
            <a:avLst/>
          </a:prstGeom>
          <a:noFill/>
          <a:ln/>
        </p:spPr>
        <p:txBody>
          <a:bodyPr wrap="none" lIns="0" tIns="0" rIns="0" bIns="0" rtlCol="0" anchor="t"/>
          <a:lstStyle/>
          <a:p>
            <a:pPr marL="0" indent="0" algn="l">
              <a:lnSpc>
                <a:spcPts val="5100"/>
              </a:lnSpc>
              <a:buNone/>
            </a:pPr>
            <a:r>
              <a:rPr lang="en-US" sz="4100" dirty="0">
                <a:solidFill>
                  <a:srgbClr val="1B1B27"/>
                </a:solidFill>
                <a:latin typeface="Alexandria" pitchFamily="34" charset="0"/>
                <a:ea typeface="Alexandria" pitchFamily="34" charset="-122"/>
                <a:cs typeface="Alexandria" pitchFamily="34" charset="-120"/>
              </a:rPr>
              <a:t>Key Insights from Exploratory Data Analysis</a:t>
            </a:r>
            <a:endParaRPr lang="en-US" sz="4100" dirty="0"/>
          </a:p>
        </p:txBody>
      </p:sp>
      <p:sp>
        <p:nvSpPr>
          <p:cNvPr id="4" name="Text 1">
            <a:extLst>
              <a:ext uri="{FF2B5EF4-FFF2-40B4-BE49-F238E27FC236}">
                <a16:creationId xmlns:a16="http://schemas.microsoft.com/office/drawing/2014/main" id="{C1BCD35F-B500-4DDC-6517-C79150ACE240}"/>
              </a:ext>
            </a:extLst>
          </p:cNvPr>
          <p:cNvSpPr/>
          <p:nvPr/>
        </p:nvSpPr>
        <p:spPr>
          <a:xfrm>
            <a:off x="729615" y="3047167"/>
            <a:ext cx="6331268" cy="333494"/>
          </a:xfrm>
          <a:prstGeom prst="rect">
            <a:avLst/>
          </a:prstGeom>
          <a:noFill/>
          <a:ln/>
        </p:spPr>
        <p:txBody>
          <a:bodyPr wrap="none" lIns="0" tIns="0" rIns="0" bIns="0" rtlCol="0" anchor="t"/>
          <a:lstStyle/>
          <a:p>
            <a:pPr marL="0" indent="0" algn="ctr">
              <a:lnSpc>
                <a:spcPts val="2600"/>
              </a:lnSpc>
              <a:buNone/>
            </a:pPr>
            <a:endParaRPr lang="en-US" sz="1600" dirty="0"/>
          </a:p>
        </p:txBody>
      </p:sp>
      <p:sp>
        <p:nvSpPr>
          <p:cNvPr id="5" name="Text 2">
            <a:extLst>
              <a:ext uri="{FF2B5EF4-FFF2-40B4-BE49-F238E27FC236}">
                <a16:creationId xmlns:a16="http://schemas.microsoft.com/office/drawing/2014/main" id="{4E4AE853-9F94-F9E5-5888-0F50E13C0B70}"/>
              </a:ext>
            </a:extLst>
          </p:cNvPr>
          <p:cNvSpPr/>
          <p:nvPr/>
        </p:nvSpPr>
        <p:spPr>
          <a:xfrm>
            <a:off x="729615" y="3568184"/>
            <a:ext cx="6331268" cy="333494"/>
          </a:xfrm>
          <a:prstGeom prst="rect">
            <a:avLst/>
          </a:prstGeom>
          <a:noFill/>
          <a:ln/>
        </p:spPr>
        <p:txBody>
          <a:bodyPr wrap="none" lIns="0" tIns="0" rIns="0" bIns="0" rtlCol="0" anchor="t"/>
          <a:lstStyle/>
          <a:p>
            <a:pPr marL="0" indent="0" algn="ctr">
              <a:lnSpc>
                <a:spcPts val="2600"/>
              </a:lnSpc>
              <a:buNone/>
            </a:pPr>
            <a:endParaRPr lang="en-US" sz="1600" dirty="0"/>
          </a:p>
        </p:txBody>
      </p:sp>
      <p:sp>
        <p:nvSpPr>
          <p:cNvPr id="7" name="Shape 4">
            <a:extLst>
              <a:ext uri="{FF2B5EF4-FFF2-40B4-BE49-F238E27FC236}">
                <a16:creationId xmlns:a16="http://schemas.microsoft.com/office/drawing/2014/main" id="{5C20951A-448D-EFDF-8F44-31F266E4EBC9}"/>
              </a:ext>
            </a:extLst>
          </p:cNvPr>
          <p:cNvSpPr/>
          <p:nvPr/>
        </p:nvSpPr>
        <p:spPr>
          <a:xfrm>
            <a:off x="1001678" y="5590920"/>
            <a:ext cx="468987" cy="468987"/>
          </a:xfrm>
          <a:prstGeom prst="roundRect">
            <a:avLst>
              <a:gd name="adj" fmla="val 18671"/>
            </a:avLst>
          </a:prstGeom>
          <a:solidFill>
            <a:srgbClr val="D2DDF9"/>
          </a:solidFill>
          <a:ln w="7620">
            <a:solidFill>
              <a:srgbClr val="B8C3DF"/>
            </a:solidFill>
            <a:prstDash val="solid"/>
          </a:ln>
        </p:spPr>
      </p:sp>
      <p:sp>
        <p:nvSpPr>
          <p:cNvPr id="8" name="Text 5">
            <a:extLst>
              <a:ext uri="{FF2B5EF4-FFF2-40B4-BE49-F238E27FC236}">
                <a16:creationId xmlns:a16="http://schemas.microsoft.com/office/drawing/2014/main" id="{3B289EB4-0211-0294-E394-736A5A8DA224}"/>
              </a:ext>
            </a:extLst>
          </p:cNvPr>
          <p:cNvSpPr/>
          <p:nvPr/>
        </p:nvSpPr>
        <p:spPr>
          <a:xfrm>
            <a:off x="1679142" y="5590920"/>
            <a:ext cx="2938343" cy="325755"/>
          </a:xfrm>
          <a:prstGeom prst="rect">
            <a:avLst/>
          </a:prstGeom>
          <a:noFill/>
          <a:ln/>
        </p:spPr>
        <p:txBody>
          <a:bodyPr wrap="none" lIns="0" tIns="0" rIns="0" bIns="0" rtlCol="0" anchor="t"/>
          <a:lstStyle/>
          <a:p>
            <a:pPr marL="0" indent="0" algn="l">
              <a:lnSpc>
                <a:spcPts val="2550"/>
              </a:lnSpc>
              <a:buNone/>
            </a:pPr>
            <a:r>
              <a:rPr lang="en-US" sz="2050" dirty="0">
                <a:solidFill>
                  <a:srgbClr val="404155"/>
                </a:solidFill>
                <a:latin typeface="Alexandria" pitchFamily="34" charset="0"/>
                <a:ea typeface="Alexandria" pitchFamily="34" charset="-122"/>
                <a:cs typeface="Alexandria" pitchFamily="34" charset="-120"/>
              </a:rPr>
              <a:t>Demographic Patterns</a:t>
            </a:r>
            <a:endParaRPr lang="en-US" sz="2050" dirty="0"/>
          </a:p>
        </p:txBody>
      </p:sp>
      <p:sp>
        <p:nvSpPr>
          <p:cNvPr id="9" name="Text 6">
            <a:extLst>
              <a:ext uri="{FF2B5EF4-FFF2-40B4-BE49-F238E27FC236}">
                <a16:creationId xmlns:a16="http://schemas.microsoft.com/office/drawing/2014/main" id="{B1C4D0A6-4ED2-7E00-4856-A8DD99AA5C14}"/>
              </a:ext>
            </a:extLst>
          </p:cNvPr>
          <p:cNvSpPr/>
          <p:nvPr/>
        </p:nvSpPr>
        <p:spPr>
          <a:xfrm>
            <a:off x="1470665" y="6155913"/>
            <a:ext cx="5653802" cy="1333948"/>
          </a:xfrm>
          <a:prstGeom prst="rect">
            <a:avLst/>
          </a:prstGeom>
          <a:noFill/>
          <a:ln/>
        </p:spPr>
        <p:txBody>
          <a:bodyPr wrap="square" lIns="0" tIns="0" rIns="0" bIns="0" rtlCol="0" anchor="t"/>
          <a:lstStyle/>
          <a:p>
            <a:pPr>
              <a:lnSpc>
                <a:spcPts val="2600"/>
              </a:lnSpc>
            </a:pPr>
            <a:r>
              <a:rPr lang="en-US" sz="1600" dirty="0">
                <a:solidFill>
                  <a:srgbClr val="404155"/>
                </a:solidFill>
                <a:latin typeface="Nobile" pitchFamily="34" charset="0"/>
              </a:rPr>
              <a:t>Diabetes prevalence steadily increases with age, peaking in the 70–74 range. Across most age groups, men consistently show higher prevalence than women, with the gender gap widening in older age brackets.</a:t>
            </a:r>
          </a:p>
        </p:txBody>
      </p:sp>
      <p:pic>
        <p:nvPicPr>
          <p:cNvPr id="17" name="Picture 16">
            <a:extLst>
              <a:ext uri="{FF2B5EF4-FFF2-40B4-BE49-F238E27FC236}">
                <a16:creationId xmlns:a16="http://schemas.microsoft.com/office/drawing/2014/main" id="{582016C8-0A71-CD59-9625-F4FC29A5684C}"/>
              </a:ext>
            </a:extLst>
          </p:cNvPr>
          <p:cNvPicPr>
            <a:picLocks noChangeAspect="1"/>
          </p:cNvPicPr>
          <p:nvPr/>
        </p:nvPicPr>
        <p:blipFill>
          <a:blip r:embed="rId3"/>
          <a:stretch>
            <a:fillRect/>
          </a:stretch>
        </p:blipFill>
        <p:spPr>
          <a:xfrm>
            <a:off x="246521" y="1275844"/>
            <a:ext cx="13938623" cy="3696847"/>
          </a:xfrm>
          <a:prstGeom prst="rect">
            <a:avLst/>
          </a:prstGeom>
        </p:spPr>
      </p:pic>
    </p:spTree>
    <p:extLst>
      <p:ext uri="{BB962C8B-B14F-4D97-AF65-F5344CB8AC3E}">
        <p14:creationId xmlns:p14="http://schemas.microsoft.com/office/powerpoint/2010/main" val="2453799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6D8AA-257A-8198-095A-F6EC7F1B4E0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6FBDDE7-9A1E-45F0-6B06-D57ADFAA8456}"/>
              </a:ext>
            </a:extLst>
          </p:cNvPr>
          <p:cNvSpPr/>
          <p:nvPr/>
        </p:nvSpPr>
        <p:spPr>
          <a:xfrm>
            <a:off x="729615" y="573286"/>
            <a:ext cx="11267599" cy="651510"/>
          </a:xfrm>
          <a:prstGeom prst="rect">
            <a:avLst/>
          </a:prstGeom>
          <a:noFill/>
          <a:ln/>
        </p:spPr>
        <p:txBody>
          <a:bodyPr wrap="none" lIns="0" tIns="0" rIns="0" bIns="0" rtlCol="0" anchor="t"/>
          <a:lstStyle/>
          <a:p>
            <a:pPr marL="0" indent="0" algn="l">
              <a:lnSpc>
                <a:spcPts val="5100"/>
              </a:lnSpc>
              <a:buNone/>
            </a:pPr>
            <a:r>
              <a:rPr lang="en-US" sz="4100" dirty="0">
                <a:solidFill>
                  <a:srgbClr val="1B1B27"/>
                </a:solidFill>
                <a:latin typeface="Alexandria" pitchFamily="34" charset="0"/>
                <a:ea typeface="Alexandria" pitchFamily="34" charset="-122"/>
                <a:cs typeface="Alexandria" pitchFamily="34" charset="-120"/>
              </a:rPr>
              <a:t>Key Insights from Exploratory Data Analysis</a:t>
            </a:r>
            <a:endParaRPr lang="en-US" sz="4100" dirty="0"/>
          </a:p>
        </p:txBody>
      </p:sp>
      <p:sp>
        <p:nvSpPr>
          <p:cNvPr id="4" name="Text 1">
            <a:extLst>
              <a:ext uri="{FF2B5EF4-FFF2-40B4-BE49-F238E27FC236}">
                <a16:creationId xmlns:a16="http://schemas.microsoft.com/office/drawing/2014/main" id="{861201D3-0FBC-3F43-4E92-438754A2FCD0}"/>
              </a:ext>
            </a:extLst>
          </p:cNvPr>
          <p:cNvSpPr/>
          <p:nvPr/>
        </p:nvSpPr>
        <p:spPr>
          <a:xfrm>
            <a:off x="729615" y="3047167"/>
            <a:ext cx="6331268" cy="333494"/>
          </a:xfrm>
          <a:prstGeom prst="rect">
            <a:avLst/>
          </a:prstGeom>
          <a:noFill/>
          <a:ln/>
        </p:spPr>
        <p:txBody>
          <a:bodyPr wrap="none" lIns="0" tIns="0" rIns="0" bIns="0" rtlCol="0" anchor="t"/>
          <a:lstStyle/>
          <a:p>
            <a:pPr marL="0" indent="0" algn="ctr">
              <a:lnSpc>
                <a:spcPts val="2600"/>
              </a:lnSpc>
              <a:buNone/>
            </a:pPr>
            <a:endParaRPr lang="en-US" sz="1600" dirty="0"/>
          </a:p>
        </p:txBody>
      </p:sp>
      <p:sp>
        <p:nvSpPr>
          <p:cNvPr id="5" name="Text 2">
            <a:extLst>
              <a:ext uri="{FF2B5EF4-FFF2-40B4-BE49-F238E27FC236}">
                <a16:creationId xmlns:a16="http://schemas.microsoft.com/office/drawing/2014/main" id="{B862F7A2-CFEC-90A8-12DB-D36414F15ABC}"/>
              </a:ext>
            </a:extLst>
          </p:cNvPr>
          <p:cNvSpPr/>
          <p:nvPr/>
        </p:nvSpPr>
        <p:spPr>
          <a:xfrm>
            <a:off x="729615" y="3568184"/>
            <a:ext cx="6331268" cy="333494"/>
          </a:xfrm>
          <a:prstGeom prst="rect">
            <a:avLst/>
          </a:prstGeom>
          <a:noFill/>
          <a:ln/>
        </p:spPr>
        <p:txBody>
          <a:bodyPr wrap="none" lIns="0" tIns="0" rIns="0" bIns="0" rtlCol="0" anchor="t"/>
          <a:lstStyle/>
          <a:p>
            <a:pPr marL="0" indent="0" algn="ctr">
              <a:lnSpc>
                <a:spcPts val="2600"/>
              </a:lnSpc>
              <a:buNone/>
            </a:pPr>
            <a:endParaRPr lang="en-US" sz="1600" dirty="0"/>
          </a:p>
        </p:txBody>
      </p:sp>
      <p:sp>
        <p:nvSpPr>
          <p:cNvPr id="7" name="Shape 4">
            <a:extLst>
              <a:ext uri="{FF2B5EF4-FFF2-40B4-BE49-F238E27FC236}">
                <a16:creationId xmlns:a16="http://schemas.microsoft.com/office/drawing/2014/main" id="{FCA88DC1-781F-52E9-8EEE-A7C8F5E48CFD}"/>
              </a:ext>
            </a:extLst>
          </p:cNvPr>
          <p:cNvSpPr/>
          <p:nvPr/>
        </p:nvSpPr>
        <p:spPr>
          <a:xfrm>
            <a:off x="929759" y="5368456"/>
            <a:ext cx="468987" cy="468987"/>
          </a:xfrm>
          <a:prstGeom prst="roundRect">
            <a:avLst>
              <a:gd name="adj" fmla="val 18671"/>
            </a:avLst>
          </a:prstGeom>
          <a:solidFill>
            <a:srgbClr val="D2DDF9"/>
          </a:solidFill>
          <a:ln w="7620">
            <a:solidFill>
              <a:srgbClr val="B8C3DF"/>
            </a:solidFill>
            <a:prstDash val="solid"/>
          </a:ln>
        </p:spPr>
      </p:sp>
      <p:sp>
        <p:nvSpPr>
          <p:cNvPr id="8" name="Text 5">
            <a:extLst>
              <a:ext uri="{FF2B5EF4-FFF2-40B4-BE49-F238E27FC236}">
                <a16:creationId xmlns:a16="http://schemas.microsoft.com/office/drawing/2014/main" id="{A69E1D1F-06F4-C69F-9B7A-0134EE9924BC}"/>
              </a:ext>
            </a:extLst>
          </p:cNvPr>
          <p:cNvSpPr/>
          <p:nvPr/>
        </p:nvSpPr>
        <p:spPr>
          <a:xfrm>
            <a:off x="1679142" y="5463426"/>
            <a:ext cx="3817532" cy="325755"/>
          </a:xfrm>
          <a:prstGeom prst="rect">
            <a:avLst/>
          </a:prstGeom>
          <a:noFill/>
          <a:ln/>
        </p:spPr>
        <p:txBody>
          <a:bodyPr wrap="none" lIns="0" tIns="0" rIns="0" bIns="0" rtlCol="0" anchor="t"/>
          <a:lstStyle/>
          <a:p>
            <a:pPr marL="0" indent="0" algn="l">
              <a:lnSpc>
                <a:spcPts val="2550"/>
              </a:lnSpc>
              <a:buNone/>
            </a:pPr>
            <a:r>
              <a:rPr lang="en-US" sz="2050" dirty="0">
                <a:solidFill>
                  <a:srgbClr val="404155"/>
                </a:solidFill>
                <a:latin typeface="Alexandria" pitchFamily="34" charset="0"/>
                <a:cs typeface="Alexandria" pitchFamily="34" charset="-120"/>
              </a:rPr>
              <a:t>Socioeconomic Factors</a:t>
            </a:r>
            <a:endParaRPr lang="en-US" sz="2050" dirty="0"/>
          </a:p>
        </p:txBody>
      </p:sp>
      <p:sp>
        <p:nvSpPr>
          <p:cNvPr id="9" name="Text 6">
            <a:extLst>
              <a:ext uri="{FF2B5EF4-FFF2-40B4-BE49-F238E27FC236}">
                <a16:creationId xmlns:a16="http://schemas.microsoft.com/office/drawing/2014/main" id="{E23533B7-697B-F497-18F9-732E0C89BBEC}"/>
              </a:ext>
            </a:extLst>
          </p:cNvPr>
          <p:cNvSpPr/>
          <p:nvPr/>
        </p:nvSpPr>
        <p:spPr>
          <a:xfrm>
            <a:off x="1470664" y="6029308"/>
            <a:ext cx="5653802" cy="1282577"/>
          </a:xfrm>
          <a:prstGeom prst="rect">
            <a:avLst/>
          </a:prstGeom>
          <a:noFill/>
          <a:ln/>
        </p:spPr>
        <p:txBody>
          <a:bodyPr wrap="square" lIns="0" tIns="0" rIns="0" bIns="0" rtlCol="0" anchor="t"/>
          <a:lstStyle/>
          <a:p>
            <a:pPr>
              <a:lnSpc>
                <a:spcPts val="2600"/>
              </a:lnSpc>
            </a:pPr>
            <a:r>
              <a:rPr lang="en-US" sz="1600" dirty="0">
                <a:solidFill>
                  <a:srgbClr val="404155"/>
                </a:solidFill>
                <a:latin typeface="Nobile" pitchFamily="34" charset="0"/>
              </a:rPr>
              <a:t>Lower education and income levels are strongly associated with higher diabetes prevalence, suggesting that socioeconomic status plays a significant role in health outcomes and access to preventive care</a:t>
            </a:r>
          </a:p>
        </p:txBody>
      </p:sp>
      <p:pic>
        <p:nvPicPr>
          <p:cNvPr id="18" name="Picture 17">
            <a:extLst>
              <a:ext uri="{FF2B5EF4-FFF2-40B4-BE49-F238E27FC236}">
                <a16:creationId xmlns:a16="http://schemas.microsoft.com/office/drawing/2014/main" id="{FE036876-02C9-0F33-658C-E4CAEC828D7B}"/>
              </a:ext>
            </a:extLst>
          </p:cNvPr>
          <p:cNvPicPr>
            <a:picLocks noChangeAspect="1"/>
          </p:cNvPicPr>
          <p:nvPr/>
        </p:nvPicPr>
        <p:blipFill>
          <a:blip r:embed="rId3"/>
          <a:stretch>
            <a:fillRect/>
          </a:stretch>
        </p:blipFill>
        <p:spPr>
          <a:xfrm>
            <a:off x="195209" y="1540220"/>
            <a:ext cx="13572162" cy="3457048"/>
          </a:xfrm>
          <a:prstGeom prst="rect">
            <a:avLst/>
          </a:prstGeom>
        </p:spPr>
      </p:pic>
    </p:spTree>
    <p:extLst>
      <p:ext uri="{BB962C8B-B14F-4D97-AF65-F5344CB8AC3E}">
        <p14:creationId xmlns:p14="http://schemas.microsoft.com/office/powerpoint/2010/main" val="1921907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33158" y="559630"/>
            <a:ext cx="11267599" cy="651510"/>
          </a:xfrm>
          <a:prstGeom prst="rect">
            <a:avLst/>
          </a:prstGeom>
          <a:noFill/>
          <a:ln/>
        </p:spPr>
        <p:txBody>
          <a:bodyPr wrap="none" lIns="0" tIns="0" rIns="0" bIns="0" rtlCol="0" anchor="t"/>
          <a:lstStyle/>
          <a:p>
            <a:pPr marL="0" indent="0" algn="l">
              <a:lnSpc>
                <a:spcPts val="5100"/>
              </a:lnSpc>
              <a:buNone/>
            </a:pPr>
            <a:r>
              <a:rPr lang="en-US" sz="4100" dirty="0">
                <a:solidFill>
                  <a:srgbClr val="1B1B27"/>
                </a:solidFill>
                <a:latin typeface="Alexandria" pitchFamily="34" charset="0"/>
                <a:ea typeface="Alexandria" pitchFamily="34" charset="-122"/>
                <a:cs typeface="Alexandria" pitchFamily="34" charset="-120"/>
              </a:rPr>
              <a:t>Key Insights from Exploratory Data Analysis</a:t>
            </a:r>
            <a:endParaRPr lang="en-US" sz="4100" dirty="0"/>
          </a:p>
        </p:txBody>
      </p:sp>
      <p:sp>
        <p:nvSpPr>
          <p:cNvPr id="4" name="Text 1"/>
          <p:cNvSpPr/>
          <p:nvPr/>
        </p:nvSpPr>
        <p:spPr>
          <a:xfrm>
            <a:off x="729615" y="3047167"/>
            <a:ext cx="6331268" cy="333494"/>
          </a:xfrm>
          <a:prstGeom prst="rect">
            <a:avLst/>
          </a:prstGeom>
          <a:noFill/>
          <a:ln/>
        </p:spPr>
        <p:txBody>
          <a:bodyPr wrap="none" lIns="0" tIns="0" rIns="0" bIns="0" rtlCol="0" anchor="t"/>
          <a:lstStyle/>
          <a:p>
            <a:pPr marL="0" indent="0" algn="ctr">
              <a:lnSpc>
                <a:spcPts val="2600"/>
              </a:lnSpc>
              <a:buNone/>
            </a:pPr>
            <a:endParaRPr lang="en-US" sz="1600" dirty="0"/>
          </a:p>
        </p:txBody>
      </p:sp>
      <p:sp>
        <p:nvSpPr>
          <p:cNvPr id="5" name="Text 2"/>
          <p:cNvSpPr/>
          <p:nvPr/>
        </p:nvSpPr>
        <p:spPr>
          <a:xfrm>
            <a:off x="729615" y="3568184"/>
            <a:ext cx="6331268" cy="333494"/>
          </a:xfrm>
          <a:prstGeom prst="rect">
            <a:avLst/>
          </a:prstGeom>
          <a:noFill/>
          <a:ln/>
        </p:spPr>
        <p:txBody>
          <a:bodyPr wrap="none" lIns="0" tIns="0" rIns="0" bIns="0" rtlCol="0" anchor="t"/>
          <a:lstStyle/>
          <a:p>
            <a:pPr marL="0" indent="0" algn="ctr">
              <a:lnSpc>
                <a:spcPts val="2600"/>
              </a:lnSpc>
              <a:buNone/>
            </a:pPr>
            <a:endParaRPr lang="en-US" sz="1600" dirty="0"/>
          </a:p>
        </p:txBody>
      </p:sp>
      <p:sp>
        <p:nvSpPr>
          <p:cNvPr id="10" name="Shape 7"/>
          <p:cNvSpPr/>
          <p:nvPr/>
        </p:nvSpPr>
        <p:spPr>
          <a:xfrm>
            <a:off x="8319805" y="2360074"/>
            <a:ext cx="468987" cy="468987"/>
          </a:xfrm>
          <a:prstGeom prst="roundRect">
            <a:avLst>
              <a:gd name="adj" fmla="val 18671"/>
            </a:avLst>
          </a:prstGeom>
          <a:solidFill>
            <a:srgbClr val="D2DDF9"/>
          </a:solidFill>
          <a:ln w="7620">
            <a:solidFill>
              <a:srgbClr val="B8C3DF"/>
            </a:solidFill>
            <a:prstDash val="solid"/>
          </a:ln>
        </p:spPr>
      </p:sp>
      <p:sp>
        <p:nvSpPr>
          <p:cNvPr id="11" name="Text 8"/>
          <p:cNvSpPr/>
          <p:nvPr/>
        </p:nvSpPr>
        <p:spPr>
          <a:xfrm>
            <a:off x="9838335" y="1673833"/>
            <a:ext cx="2689860" cy="325755"/>
          </a:xfrm>
          <a:prstGeom prst="rect">
            <a:avLst/>
          </a:prstGeom>
          <a:noFill/>
          <a:ln/>
        </p:spPr>
        <p:txBody>
          <a:bodyPr wrap="none" lIns="0" tIns="0" rIns="0" bIns="0" rtlCol="0" anchor="t"/>
          <a:lstStyle/>
          <a:p>
            <a:pPr marL="0" indent="0" algn="l">
              <a:lnSpc>
                <a:spcPts val="2550"/>
              </a:lnSpc>
              <a:buNone/>
            </a:pPr>
            <a:r>
              <a:rPr lang="en-US" sz="2050" dirty="0">
                <a:solidFill>
                  <a:srgbClr val="404155"/>
                </a:solidFill>
                <a:latin typeface="Alexandria" pitchFamily="34" charset="0"/>
                <a:ea typeface="Alexandria" pitchFamily="34" charset="-122"/>
                <a:cs typeface="Alexandria" pitchFamily="34" charset="-120"/>
              </a:rPr>
              <a:t>Lifestyle Correlations</a:t>
            </a:r>
            <a:endParaRPr lang="en-US" sz="2050" dirty="0"/>
          </a:p>
        </p:txBody>
      </p:sp>
      <p:sp>
        <p:nvSpPr>
          <p:cNvPr id="12" name="Text 9"/>
          <p:cNvSpPr/>
          <p:nvPr/>
        </p:nvSpPr>
        <p:spPr>
          <a:xfrm>
            <a:off x="8873856" y="2360074"/>
            <a:ext cx="5653802" cy="1000482"/>
          </a:xfrm>
          <a:prstGeom prst="rect">
            <a:avLst/>
          </a:prstGeom>
          <a:noFill/>
          <a:ln/>
        </p:spPr>
        <p:txBody>
          <a:bodyPr wrap="square" lIns="0" tIns="0" rIns="0" bIns="0" rtlCol="0" anchor="t"/>
          <a:lstStyle/>
          <a:p>
            <a:pPr marL="0" indent="0" algn="l">
              <a:lnSpc>
                <a:spcPts val="2600"/>
              </a:lnSpc>
              <a:buNone/>
            </a:pPr>
            <a:r>
              <a:rPr lang="en-US" sz="1600" dirty="0">
                <a:solidFill>
                  <a:srgbClr val="404155"/>
                </a:solidFill>
                <a:latin typeface="Nobile" pitchFamily="34" charset="0"/>
                <a:ea typeface="Nobile" pitchFamily="34" charset="-122"/>
                <a:cs typeface="Nobile" pitchFamily="34" charset="-120"/>
              </a:rPr>
              <a:t>Physical inactivity, smoking history, and poor dietary habits demonstrate strong associations with increased diabetes risk</a:t>
            </a:r>
            <a:endParaRPr lang="en-US" sz="1600" dirty="0"/>
          </a:p>
        </p:txBody>
      </p:sp>
      <p:pic>
        <p:nvPicPr>
          <p:cNvPr id="19" name="Picture 18">
            <a:extLst>
              <a:ext uri="{FF2B5EF4-FFF2-40B4-BE49-F238E27FC236}">
                <a16:creationId xmlns:a16="http://schemas.microsoft.com/office/drawing/2014/main" id="{F69571EC-55BF-AD49-45F4-180BB0B19FD0}"/>
              </a:ext>
            </a:extLst>
          </p:cNvPr>
          <p:cNvPicPr>
            <a:picLocks noChangeAspect="1"/>
          </p:cNvPicPr>
          <p:nvPr/>
        </p:nvPicPr>
        <p:blipFill>
          <a:blip r:embed="rId3"/>
          <a:stretch>
            <a:fillRect/>
          </a:stretch>
        </p:blipFill>
        <p:spPr>
          <a:xfrm>
            <a:off x="91487" y="5168257"/>
            <a:ext cx="8228318" cy="2796280"/>
          </a:xfrm>
          <a:prstGeom prst="rect">
            <a:avLst/>
          </a:prstGeom>
        </p:spPr>
      </p:pic>
      <p:pic>
        <p:nvPicPr>
          <p:cNvPr id="21" name="Picture 20">
            <a:extLst>
              <a:ext uri="{FF2B5EF4-FFF2-40B4-BE49-F238E27FC236}">
                <a16:creationId xmlns:a16="http://schemas.microsoft.com/office/drawing/2014/main" id="{DE6A3D16-7B9B-FD49-E852-0CDAA8746036}"/>
              </a:ext>
            </a:extLst>
          </p:cNvPr>
          <p:cNvPicPr>
            <a:picLocks noChangeAspect="1"/>
          </p:cNvPicPr>
          <p:nvPr/>
        </p:nvPicPr>
        <p:blipFill>
          <a:blip r:embed="rId4"/>
          <a:stretch>
            <a:fillRect/>
          </a:stretch>
        </p:blipFill>
        <p:spPr>
          <a:xfrm>
            <a:off x="91487" y="1836709"/>
            <a:ext cx="8207313" cy="28688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7697" y="493752"/>
            <a:ext cx="11567727" cy="588407"/>
          </a:xfrm>
          <a:prstGeom prst="rect">
            <a:avLst/>
          </a:prstGeom>
          <a:noFill/>
          <a:ln/>
        </p:spPr>
        <p:txBody>
          <a:bodyPr wrap="none" lIns="0" tIns="0" rIns="0" bIns="0" rtlCol="0" anchor="t"/>
          <a:lstStyle/>
          <a:p>
            <a:pPr marL="0" indent="0" algn="l">
              <a:lnSpc>
                <a:spcPts val="4600"/>
              </a:lnSpc>
              <a:buNone/>
            </a:pPr>
            <a:r>
              <a:rPr lang="en-US" sz="4100" dirty="0">
                <a:solidFill>
                  <a:srgbClr val="1B1B27"/>
                </a:solidFill>
                <a:latin typeface="Alexandria" pitchFamily="34" charset="0"/>
                <a:cs typeface="Alexandria" pitchFamily="34" charset="-120"/>
              </a:rPr>
              <a:t>Baseline Modelling-Steps</a:t>
            </a:r>
          </a:p>
        </p:txBody>
      </p:sp>
      <p:sp>
        <p:nvSpPr>
          <p:cNvPr id="3" name="Text 1"/>
          <p:cNvSpPr/>
          <p:nvPr/>
        </p:nvSpPr>
        <p:spPr>
          <a:xfrm>
            <a:off x="627698" y="1351121"/>
            <a:ext cx="13375005" cy="286822"/>
          </a:xfrm>
          <a:prstGeom prst="rect">
            <a:avLst/>
          </a:prstGeom>
          <a:noFill/>
          <a:ln/>
        </p:spPr>
        <p:txBody>
          <a:bodyPr wrap="none" lIns="0" tIns="0" rIns="0" bIns="0" rtlCol="0" anchor="t"/>
          <a:lstStyle/>
          <a:p>
            <a:pPr marL="0" indent="0" algn="l">
              <a:lnSpc>
                <a:spcPts val="2250"/>
              </a:lnSpc>
              <a:buNone/>
            </a:pPr>
            <a:endParaRPr lang="en-US" sz="1400"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stretch>
            <a:fillRect/>
          </a:stretch>
        </p:blipFill>
        <p:spPr>
          <a:xfrm>
            <a:off x="627698" y="1839635"/>
            <a:ext cx="896779" cy="1076087"/>
          </a:xfrm>
          <a:prstGeom prst="rect">
            <a:avLst/>
          </a:prstGeom>
        </p:spPr>
      </p:pic>
      <p:sp>
        <p:nvSpPr>
          <p:cNvPr id="5" name="Text 2"/>
          <p:cNvSpPr/>
          <p:nvPr/>
        </p:nvSpPr>
        <p:spPr>
          <a:xfrm>
            <a:off x="1793438" y="2018943"/>
            <a:ext cx="5521762" cy="315753"/>
          </a:xfrm>
          <a:prstGeom prst="rect">
            <a:avLst/>
          </a:prstGeom>
          <a:noFill/>
          <a:ln/>
        </p:spPr>
        <p:txBody>
          <a:bodyPr wrap="none" lIns="0" tIns="0" rIns="0" bIns="0" rtlCol="0" anchor="t"/>
          <a:lstStyle/>
          <a:p>
            <a:pPr marL="0" indent="0" algn="l">
              <a:lnSpc>
                <a:spcPts val="2300"/>
              </a:lnSpc>
              <a:buNone/>
            </a:pPr>
            <a:r>
              <a:rPr lang="en-US" sz="1850" b="1" dirty="0">
                <a:solidFill>
                  <a:srgbClr val="272525"/>
                </a:solidFill>
                <a:latin typeface="Arial" panose="020B0604020202020204" pitchFamily="34" charset="0"/>
                <a:ea typeface="Petrona Bold" pitchFamily="34" charset="-122"/>
                <a:cs typeface="Arial" panose="020B0604020202020204" pitchFamily="34" charset="0"/>
              </a:rPr>
              <a:t>80/20 Training &amp; Test Split</a:t>
            </a:r>
            <a:endParaRPr lang="en-US" sz="1850" dirty="0">
              <a:solidFill>
                <a:srgbClr val="FF0000"/>
              </a:solidFill>
              <a:latin typeface="Arial" panose="020B0604020202020204" pitchFamily="34" charset="0"/>
              <a:cs typeface="Arial" panose="020B0604020202020204" pitchFamily="34" charset="0"/>
            </a:endParaRPr>
          </a:p>
        </p:txBody>
      </p:sp>
      <p:sp>
        <p:nvSpPr>
          <p:cNvPr id="6" name="Text 3"/>
          <p:cNvSpPr/>
          <p:nvPr/>
        </p:nvSpPr>
        <p:spPr>
          <a:xfrm>
            <a:off x="1793438" y="2420660"/>
            <a:ext cx="12209264" cy="286822"/>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Stratified to preserve class proportions and avoid bias</a:t>
            </a:r>
            <a:endParaRPr lang="en-US" sz="1400" dirty="0">
              <a:latin typeface="Arial" panose="020B0604020202020204" pitchFamily="34" charset="0"/>
              <a:cs typeface="Arial" panose="020B0604020202020204" pitchFamily="34" charset="0"/>
            </a:endParaRPr>
          </a:p>
        </p:txBody>
      </p:sp>
      <p:pic>
        <p:nvPicPr>
          <p:cNvPr id="7" name="Image 1" descr="preencoded.png"/>
          <p:cNvPicPr>
            <a:picLocks noChangeAspect="1"/>
          </p:cNvPicPr>
          <p:nvPr/>
        </p:nvPicPr>
        <p:blipFill>
          <a:blip r:embed="rId4"/>
          <a:stretch>
            <a:fillRect/>
          </a:stretch>
        </p:blipFill>
        <p:spPr>
          <a:xfrm>
            <a:off x="627698" y="2915722"/>
            <a:ext cx="896779" cy="1076087"/>
          </a:xfrm>
          <a:prstGeom prst="rect">
            <a:avLst/>
          </a:prstGeom>
        </p:spPr>
      </p:pic>
      <p:sp>
        <p:nvSpPr>
          <p:cNvPr id="8" name="Text 4"/>
          <p:cNvSpPr/>
          <p:nvPr/>
        </p:nvSpPr>
        <p:spPr>
          <a:xfrm>
            <a:off x="1793438" y="3095030"/>
            <a:ext cx="4941899" cy="315753"/>
          </a:xfrm>
          <a:prstGeom prst="rect">
            <a:avLst/>
          </a:prstGeom>
          <a:noFill/>
          <a:ln/>
        </p:spPr>
        <p:txBody>
          <a:bodyPr wrap="none" lIns="0" tIns="0" rIns="0" bIns="0" rtlCol="0" anchor="t"/>
          <a:lstStyle/>
          <a:p>
            <a:pPr marL="0" indent="0" algn="l">
              <a:lnSpc>
                <a:spcPts val="2300"/>
              </a:lnSpc>
              <a:buNone/>
            </a:pPr>
            <a:r>
              <a:rPr lang="en-US" sz="1850" b="1" dirty="0">
                <a:solidFill>
                  <a:srgbClr val="272525"/>
                </a:solidFill>
                <a:latin typeface="Arial" panose="020B0604020202020204" pitchFamily="34" charset="0"/>
                <a:ea typeface="Petrona Bold" pitchFamily="34" charset="-122"/>
                <a:cs typeface="Arial" panose="020B0604020202020204" pitchFamily="34" charset="0"/>
              </a:rPr>
              <a:t>Scaled the Data</a:t>
            </a:r>
            <a:endParaRPr lang="en-US" sz="1850" dirty="0">
              <a:solidFill>
                <a:srgbClr val="FF0000"/>
              </a:solidFill>
              <a:latin typeface="Arial" panose="020B0604020202020204" pitchFamily="34" charset="0"/>
              <a:cs typeface="Arial" panose="020B0604020202020204" pitchFamily="34" charset="0"/>
            </a:endParaRPr>
          </a:p>
        </p:txBody>
      </p:sp>
      <p:sp>
        <p:nvSpPr>
          <p:cNvPr id="9" name="Text 5"/>
          <p:cNvSpPr/>
          <p:nvPr/>
        </p:nvSpPr>
        <p:spPr>
          <a:xfrm>
            <a:off x="1793438" y="3496747"/>
            <a:ext cx="12209264" cy="286822"/>
          </a:xfrm>
          <a:prstGeom prst="rect">
            <a:avLst/>
          </a:prstGeom>
          <a:noFill/>
          <a:ln/>
        </p:spPr>
        <p:txBody>
          <a:bodyPr wrap="none" lIns="0" tIns="0" rIns="0" bIns="0" rtlCol="0" anchor="t"/>
          <a:lstStyle/>
          <a:p>
            <a:pPr>
              <a:lnSpc>
                <a:spcPts val="2250"/>
              </a:lnSpc>
            </a:pPr>
            <a:r>
              <a:rPr lang="en-US" sz="1400" dirty="0">
                <a:solidFill>
                  <a:srgbClr val="272525"/>
                </a:solidFill>
                <a:latin typeface="Arial" panose="020B0604020202020204" pitchFamily="34" charset="0"/>
                <a:ea typeface="Inter" pitchFamily="34" charset="-122"/>
                <a:cs typeface="Arial" panose="020B0604020202020204" pitchFamily="34" charset="0"/>
              </a:rPr>
              <a:t>Prevented one feature from dominating due to unit differences</a:t>
            </a:r>
            <a:r>
              <a:rPr lang="en-US" dirty="0"/>
              <a:t>.</a:t>
            </a:r>
            <a:endParaRPr lang="en-US" sz="1400" dirty="0">
              <a:latin typeface="Arial" panose="020B0604020202020204" pitchFamily="34" charset="0"/>
              <a:cs typeface="Arial" panose="020B0604020202020204" pitchFamily="34" charset="0"/>
            </a:endParaRPr>
          </a:p>
        </p:txBody>
      </p:sp>
      <p:pic>
        <p:nvPicPr>
          <p:cNvPr id="10" name="Image 2" descr="preencoded.png"/>
          <p:cNvPicPr>
            <a:picLocks noChangeAspect="1"/>
          </p:cNvPicPr>
          <p:nvPr/>
        </p:nvPicPr>
        <p:blipFill>
          <a:blip r:embed="rId5"/>
          <a:stretch>
            <a:fillRect/>
          </a:stretch>
        </p:blipFill>
        <p:spPr>
          <a:xfrm>
            <a:off x="627698" y="3991808"/>
            <a:ext cx="896779" cy="1333976"/>
          </a:xfrm>
          <a:prstGeom prst="rect">
            <a:avLst/>
          </a:prstGeom>
        </p:spPr>
      </p:pic>
      <p:sp>
        <p:nvSpPr>
          <p:cNvPr id="11" name="Text 6"/>
          <p:cNvSpPr/>
          <p:nvPr/>
        </p:nvSpPr>
        <p:spPr>
          <a:xfrm>
            <a:off x="1793438" y="4171117"/>
            <a:ext cx="6871060" cy="274915"/>
          </a:xfrm>
          <a:prstGeom prst="rect">
            <a:avLst/>
          </a:prstGeom>
          <a:noFill/>
          <a:ln/>
        </p:spPr>
        <p:txBody>
          <a:bodyPr wrap="none" lIns="0" tIns="0" rIns="0" bIns="0" rtlCol="0" anchor="t"/>
          <a:lstStyle/>
          <a:p>
            <a:pPr marL="0" indent="0" algn="l">
              <a:lnSpc>
                <a:spcPts val="2300"/>
              </a:lnSpc>
              <a:buNone/>
            </a:pPr>
            <a:r>
              <a:rPr lang="en-US" sz="1850" b="1" dirty="0">
                <a:solidFill>
                  <a:srgbClr val="272525"/>
                </a:solidFill>
                <a:latin typeface="Arial" panose="020B0604020202020204" pitchFamily="34" charset="0"/>
                <a:ea typeface="Petrona Bold" pitchFamily="34" charset="-122"/>
                <a:cs typeface="Arial" panose="020B0604020202020204" pitchFamily="34" charset="0"/>
              </a:rPr>
              <a:t>Logistic Regression</a:t>
            </a:r>
            <a:r>
              <a:rPr lang="en-US" sz="1850" b="1" dirty="0">
                <a:solidFill>
                  <a:srgbClr val="FF0000"/>
                </a:solidFill>
                <a:latin typeface="Arial" panose="020B0604020202020204" pitchFamily="34" charset="0"/>
                <a:ea typeface="Petrona Bold" pitchFamily="34" charset="-122"/>
                <a:cs typeface="Arial" panose="020B0604020202020204" pitchFamily="34" charset="0"/>
              </a:rPr>
              <a:t>-Normal</a:t>
            </a:r>
            <a:endParaRPr lang="en-US" sz="1850" dirty="0">
              <a:solidFill>
                <a:srgbClr val="FF0000"/>
              </a:solidFill>
              <a:latin typeface="Arial" panose="020B0604020202020204" pitchFamily="34" charset="0"/>
              <a:cs typeface="Arial" panose="020B0604020202020204" pitchFamily="34" charset="0"/>
            </a:endParaRPr>
          </a:p>
        </p:txBody>
      </p:sp>
      <p:sp>
        <p:nvSpPr>
          <p:cNvPr id="12" name="Text 7"/>
          <p:cNvSpPr/>
          <p:nvPr/>
        </p:nvSpPr>
        <p:spPr>
          <a:xfrm>
            <a:off x="1793438" y="4572833"/>
            <a:ext cx="12209264" cy="573643"/>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Instantiated, fitted the training data and transformed the test data. No parameters were changed. Recall most important metric. High accuracy achieved, poor recall and precision for class 1</a:t>
            </a:r>
          </a:p>
        </p:txBody>
      </p:sp>
      <p:pic>
        <p:nvPicPr>
          <p:cNvPr id="13" name="Image 3" descr="preencoded.png"/>
          <p:cNvPicPr>
            <a:picLocks noChangeAspect="1"/>
          </p:cNvPicPr>
          <p:nvPr/>
        </p:nvPicPr>
        <p:blipFill>
          <a:blip r:embed="rId6"/>
          <a:stretch>
            <a:fillRect/>
          </a:stretch>
        </p:blipFill>
        <p:spPr>
          <a:xfrm>
            <a:off x="627698" y="5325785"/>
            <a:ext cx="896779" cy="1333976"/>
          </a:xfrm>
          <a:prstGeom prst="rect">
            <a:avLst/>
          </a:prstGeom>
        </p:spPr>
      </p:pic>
      <p:sp>
        <p:nvSpPr>
          <p:cNvPr id="14" name="Text 8"/>
          <p:cNvSpPr/>
          <p:nvPr/>
        </p:nvSpPr>
        <p:spPr>
          <a:xfrm>
            <a:off x="1793438" y="5505093"/>
            <a:ext cx="3442216" cy="294203"/>
          </a:xfrm>
          <a:prstGeom prst="rect">
            <a:avLst/>
          </a:prstGeom>
          <a:noFill/>
          <a:ln/>
        </p:spPr>
        <p:txBody>
          <a:bodyPr wrap="none" lIns="0" tIns="0" rIns="0" bIns="0" rtlCol="0" anchor="t"/>
          <a:lstStyle/>
          <a:p>
            <a:pPr>
              <a:lnSpc>
                <a:spcPts val="2300"/>
              </a:lnSpc>
            </a:pPr>
            <a:r>
              <a:rPr lang="en-US" sz="1850" b="1" dirty="0">
                <a:solidFill>
                  <a:srgbClr val="272525"/>
                </a:solidFill>
                <a:latin typeface="Arial" panose="020B0604020202020204" pitchFamily="34" charset="0"/>
                <a:ea typeface="Petrona Bold" pitchFamily="34" charset="-122"/>
                <a:cs typeface="Arial" panose="020B0604020202020204" pitchFamily="34" charset="0"/>
              </a:rPr>
              <a:t>Logistic Regression</a:t>
            </a:r>
            <a:r>
              <a:rPr lang="en-US" sz="1850" b="1" dirty="0">
                <a:solidFill>
                  <a:srgbClr val="FF0000"/>
                </a:solidFill>
                <a:latin typeface="Arial" panose="020B0604020202020204" pitchFamily="34" charset="0"/>
                <a:ea typeface="Petrona Bold" pitchFamily="34" charset="-122"/>
                <a:cs typeface="Arial" panose="020B0604020202020204" pitchFamily="34" charset="0"/>
              </a:rPr>
              <a:t>-Balanced</a:t>
            </a:r>
            <a:endParaRPr lang="en-US" sz="1850" dirty="0">
              <a:solidFill>
                <a:srgbClr val="FF0000"/>
              </a:solidFill>
              <a:latin typeface="Arial" panose="020B0604020202020204" pitchFamily="34" charset="0"/>
              <a:cs typeface="Arial" panose="020B0604020202020204" pitchFamily="34" charset="0"/>
            </a:endParaRPr>
          </a:p>
        </p:txBody>
      </p:sp>
      <p:sp>
        <p:nvSpPr>
          <p:cNvPr id="15" name="Text 9"/>
          <p:cNvSpPr/>
          <p:nvPr/>
        </p:nvSpPr>
        <p:spPr>
          <a:xfrm>
            <a:off x="1793438" y="5906810"/>
            <a:ext cx="12209264" cy="573643"/>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Class weight as ‘balanced’ was selected. Accuracy dropped, but higher recall and lower precision was achieved</a:t>
            </a:r>
            <a:endParaRPr lang="en-US" sz="1400" dirty="0">
              <a:latin typeface="Arial" panose="020B0604020202020204" pitchFamily="34" charset="0"/>
              <a:cs typeface="Arial" panose="020B0604020202020204" pitchFamily="34" charset="0"/>
            </a:endParaRPr>
          </a:p>
        </p:txBody>
      </p:sp>
      <p:pic>
        <p:nvPicPr>
          <p:cNvPr id="16" name="Image 4" descr="preencoded.png"/>
          <p:cNvPicPr>
            <a:picLocks noChangeAspect="1"/>
          </p:cNvPicPr>
          <p:nvPr/>
        </p:nvPicPr>
        <p:blipFill>
          <a:blip r:embed="rId7"/>
          <a:stretch>
            <a:fillRect/>
          </a:stretch>
        </p:blipFill>
        <p:spPr>
          <a:xfrm>
            <a:off x="627698" y="6659761"/>
            <a:ext cx="896779" cy="1076087"/>
          </a:xfrm>
          <a:prstGeom prst="rect">
            <a:avLst/>
          </a:prstGeom>
        </p:spPr>
      </p:pic>
      <p:sp>
        <p:nvSpPr>
          <p:cNvPr id="17" name="Text 10"/>
          <p:cNvSpPr/>
          <p:nvPr/>
        </p:nvSpPr>
        <p:spPr>
          <a:xfrm>
            <a:off x="1793437" y="6839069"/>
            <a:ext cx="3785429" cy="294203"/>
          </a:xfrm>
          <a:prstGeom prst="rect">
            <a:avLst/>
          </a:prstGeom>
          <a:noFill/>
          <a:ln/>
        </p:spPr>
        <p:txBody>
          <a:bodyPr wrap="none" lIns="0" tIns="0" rIns="0" bIns="0" rtlCol="0" anchor="t"/>
          <a:lstStyle/>
          <a:p>
            <a:pPr>
              <a:lnSpc>
                <a:spcPts val="2300"/>
              </a:lnSpc>
            </a:pPr>
            <a:r>
              <a:rPr lang="en-US" sz="1850" b="1" dirty="0">
                <a:solidFill>
                  <a:srgbClr val="272525"/>
                </a:solidFill>
                <a:latin typeface="Arial" panose="020B0604020202020204" pitchFamily="34" charset="0"/>
                <a:ea typeface="Petrona Bold" pitchFamily="34" charset="-122"/>
                <a:cs typeface="Arial" panose="020B0604020202020204" pitchFamily="34" charset="0"/>
              </a:rPr>
              <a:t>Logistic Regression</a:t>
            </a:r>
            <a:r>
              <a:rPr lang="en-US" sz="1850" b="1" dirty="0">
                <a:solidFill>
                  <a:srgbClr val="FF0000"/>
                </a:solidFill>
                <a:latin typeface="Arial" panose="020B0604020202020204" pitchFamily="34" charset="0"/>
                <a:ea typeface="Petrona Bold" pitchFamily="34" charset="-122"/>
                <a:cs typeface="Arial" panose="020B0604020202020204" pitchFamily="34" charset="0"/>
              </a:rPr>
              <a:t>-</a:t>
            </a:r>
            <a:r>
              <a:rPr lang="en-US" sz="1850" b="1" dirty="0" err="1">
                <a:solidFill>
                  <a:srgbClr val="FF0000"/>
                </a:solidFill>
                <a:latin typeface="Arial" panose="020B0604020202020204" pitchFamily="34" charset="0"/>
                <a:ea typeface="Petrona Bold" pitchFamily="34" charset="-122"/>
                <a:cs typeface="Arial" panose="020B0604020202020204" pitchFamily="34" charset="0"/>
              </a:rPr>
              <a:t>Upsampling</a:t>
            </a:r>
            <a:endParaRPr lang="en-US" sz="1850" dirty="0">
              <a:solidFill>
                <a:srgbClr val="FF0000"/>
              </a:solidFill>
              <a:latin typeface="Arial" panose="020B0604020202020204" pitchFamily="34" charset="0"/>
              <a:cs typeface="Arial" panose="020B0604020202020204" pitchFamily="34" charset="0"/>
            </a:endParaRPr>
          </a:p>
        </p:txBody>
      </p:sp>
      <p:sp>
        <p:nvSpPr>
          <p:cNvPr id="22" name="Text 9">
            <a:extLst>
              <a:ext uri="{FF2B5EF4-FFF2-40B4-BE49-F238E27FC236}">
                <a16:creationId xmlns:a16="http://schemas.microsoft.com/office/drawing/2014/main" id="{E4734DB9-F7FC-EBD2-F93A-4DA0A30FD1DB}"/>
              </a:ext>
            </a:extLst>
          </p:cNvPr>
          <p:cNvSpPr/>
          <p:nvPr/>
        </p:nvSpPr>
        <p:spPr>
          <a:xfrm>
            <a:off x="1793438" y="7217696"/>
            <a:ext cx="12209264" cy="573643"/>
          </a:xfrm>
          <a:prstGeom prst="rect">
            <a:avLst/>
          </a:prstGeom>
          <a:noFill/>
          <a:ln/>
        </p:spPr>
        <p:txBody>
          <a:bodyPr wrap="square" lIns="0" tIns="0" rIns="0" bIns="0" rtlCol="0" anchor="t"/>
          <a:lstStyle/>
          <a:p>
            <a:pPr>
              <a:lnSpc>
                <a:spcPts val="2250"/>
              </a:lnSpc>
            </a:pPr>
            <a:r>
              <a:rPr lang="en-GB" sz="1400" dirty="0"/>
              <a:t>Minority class were duplicated</a:t>
            </a:r>
            <a:r>
              <a:rPr lang="en-US" sz="1400" dirty="0">
                <a:solidFill>
                  <a:srgbClr val="272525"/>
                </a:solidFill>
                <a:latin typeface="Arial" panose="020B0604020202020204" pitchFamily="34" charset="0"/>
                <a:ea typeface="Inter" pitchFamily="34" charset="-122"/>
                <a:cs typeface="Arial" panose="020B0604020202020204" pitchFamily="34" charset="0"/>
              </a:rPr>
              <a:t>. Accuracy slightly higher than log-balanced but lower than normal. Slightly higher recall achieved &amp; precision was almost similar</a:t>
            </a:r>
            <a:endParaRPr lang="en-US" sz="14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03D4D-331E-78B9-2D7B-5DA0BE73C7AC}"/>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E0340D89-A19F-47A7-445F-53A2A3369339}"/>
              </a:ext>
            </a:extLst>
          </p:cNvPr>
          <p:cNvPicPr>
            <a:picLocks noChangeAspect="1"/>
          </p:cNvPicPr>
          <p:nvPr/>
        </p:nvPicPr>
        <p:blipFill>
          <a:blip r:embed="rId2"/>
          <a:stretch>
            <a:fillRect/>
          </a:stretch>
        </p:blipFill>
        <p:spPr>
          <a:xfrm>
            <a:off x="822815" y="1981683"/>
            <a:ext cx="13077419" cy="4470487"/>
          </a:xfrm>
          <a:prstGeom prst="rect">
            <a:avLst/>
          </a:prstGeom>
        </p:spPr>
      </p:pic>
      <p:sp>
        <p:nvSpPr>
          <p:cNvPr id="16" name="Text 0">
            <a:extLst>
              <a:ext uri="{FF2B5EF4-FFF2-40B4-BE49-F238E27FC236}">
                <a16:creationId xmlns:a16="http://schemas.microsoft.com/office/drawing/2014/main" id="{EBC98AA2-10EB-E22C-F768-D66098627ADB}"/>
              </a:ext>
            </a:extLst>
          </p:cNvPr>
          <p:cNvSpPr/>
          <p:nvPr/>
        </p:nvSpPr>
        <p:spPr>
          <a:xfrm>
            <a:off x="610314" y="480536"/>
            <a:ext cx="10163651" cy="544949"/>
          </a:xfrm>
          <a:prstGeom prst="rect">
            <a:avLst/>
          </a:prstGeom>
          <a:noFill/>
          <a:ln/>
        </p:spPr>
        <p:txBody>
          <a:bodyPr wrap="none" lIns="0" tIns="0" rIns="0" bIns="0" rtlCol="0" anchor="t"/>
          <a:lstStyle/>
          <a:p>
            <a:pPr marL="0" indent="0">
              <a:lnSpc>
                <a:spcPts val="4250"/>
              </a:lnSpc>
              <a:buNone/>
            </a:pPr>
            <a:r>
              <a:rPr lang="en-US" sz="3400" dirty="0">
                <a:solidFill>
                  <a:srgbClr val="1B1B27"/>
                </a:solidFill>
                <a:latin typeface="Alexandria" pitchFamily="34" charset="0"/>
                <a:ea typeface="Alexandria" pitchFamily="34" charset="-122"/>
                <a:cs typeface="Alexandria" pitchFamily="34" charset="-120"/>
              </a:rPr>
              <a:t>Baseline Model Summary-Logistic Regression</a:t>
            </a:r>
            <a:endParaRPr lang="en-US" sz="3400" dirty="0"/>
          </a:p>
        </p:txBody>
      </p:sp>
    </p:spTree>
    <p:extLst>
      <p:ext uri="{BB962C8B-B14F-4D97-AF65-F5344CB8AC3E}">
        <p14:creationId xmlns:p14="http://schemas.microsoft.com/office/powerpoint/2010/main" val="52624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23160" y="491240"/>
            <a:ext cx="10163651" cy="544949"/>
          </a:xfrm>
          <a:prstGeom prst="rect">
            <a:avLst/>
          </a:prstGeom>
          <a:noFill/>
          <a:ln/>
        </p:spPr>
        <p:txBody>
          <a:bodyPr wrap="none" lIns="0" tIns="0" rIns="0" bIns="0" rtlCol="0" anchor="t"/>
          <a:lstStyle/>
          <a:p>
            <a:pPr marL="0" indent="0" algn="l">
              <a:lnSpc>
                <a:spcPts val="4250"/>
              </a:lnSpc>
              <a:buNone/>
            </a:pPr>
            <a:r>
              <a:rPr lang="en-US" sz="4100" dirty="0">
                <a:solidFill>
                  <a:srgbClr val="1B1B27"/>
                </a:solidFill>
                <a:latin typeface="Alexandria" pitchFamily="34" charset="0"/>
                <a:cs typeface="Alexandria" pitchFamily="34" charset="-120"/>
              </a:rPr>
              <a:t>Evaluation Metrics</a:t>
            </a:r>
          </a:p>
        </p:txBody>
      </p:sp>
      <p:sp>
        <p:nvSpPr>
          <p:cNvPr id="4" name="Text 1"/>
          <p:cNvSpPr/>
          <p:nvPr/>
        </p:nvSpPr>
        <p:spPr>
          <a:xfrm>
            <a:off x="523160" y="1539559"/>
            <a:ext cx="2354104" cy="272415"/>
          </a:xfrm>
          <a:prstGeom prst="rect">
            <a:avLst/>
          </a:prstGeom>
          <a:noFill/>
          <a:ln/>
        </p:spPr>
        <p:txBody>
          <a:bodyPr wrap="none" lIns="0" tIns="0" rIns="0" bIns="0" rtlCol="0" anchor="t"/>
          <a:lstStyle/>
          <a:p>
            <a:pPr marL="0" indent="0" algn="l">
              <a:lnSpc>
                <a:spcPts val="2100"/>
              </a:lnSpc>
              <a:buNone/>
            </a:pPr>
            <a:r>
              <a:rPr lang="en-US" sz="1700" dirty="0">
                <a:solidFill>
                  <a:srgbClr val="404155"/>
                </a:solidFill>
                <a:latin typeface="Alexandria" pitchFamily="34" charset="0"/>
                <a:cs typeface="Alexandria" pitchFamily="34" charset="-120"/>
              </a:rPr>
              <a:t>Classification Report</a:t>
            </a:r>
            <a:endParaRPr lang="en-US" sz="1700" dirty="0"/>
          </a:p>
        </p:txBody>
      </p:sp>
      <p:sp>
        <p:nvSpPr>
          <p:cNvPr id="5" name="Text 2"/>
          <p:cNvSpPr/>
          <p:nvPr/>
        </p:nvSpPr>
        <p:spPr>
          <a:xfrm>
            <a:off x="523160" y="2147410"/>
            <a:ext cx="9026846" cy="791433"/>
          </a:xfrm>
          <a:prstGeom prst="rect">
            <a:avLst/>
          </a:prstGeom>
          <a:noFill/>
          <a:ln/>
        </p:spPr>
        <p:txBody>
          <a:bodyPr wrap="none" lIns="0" tIns="0" rIns="0" bIns="0" rtlCol="0" anchor="t"/>
          <a:lstStyle/>
          <a:p>
            <a:pPr marL="0" indent="0" algn="l">
              <a:lnSpc>
                <a:spcPts val="2150"/>
              </a:lnSpc>
              <a:buNone/>
            </a:pPr>
            <a:r>
              <a:rPr lang="en-US" sz="1350" dirty="0">
                <a:solidFill>
                  <a:srgbClr val="404155"/>
                </a:solidFill>
                <a:latin typeface="Nobile" pitchFamily="34" charset="0"/>
                <a:ea typeface="Nobile" pitchFamily="34" charset="-122"/>
                <a:cs typeface="Nobile" pitchFamily="34" charset="-120"/>
              </a:rPr>
              <a:t>A summary of model’s performance was generated which showed the accuracy, precision, recall and F1- score.</a:t>
            </a:r>
          </a:p>
          <a:p>
            <a:pPr>
              <a:lnSpc>
                <a:spcPts val="2150"/>
              </a:lnSpc>
            </a:pPr>
            <a:r>
              <a:rPr lang="en-US" sz="1350" dirty="0">
                <a:solidFill>
                  <a:srgbClr val="404155"/>
                </a:solidFill>
                <a:latin typeface="Nobile" pitchFamily="34" charset="0"/>
                <a:ea typeface="Nobile" pitchFamily="34" charset="-122"/>
                <a:cs typeface="Nobile" pitchFamily="34" charset="-120"/>
              </a:rPr>
              <a:t>Recall was considered as the most important evaluation metric. False positives can be detrimental</a:t>
            </a:r>
            <a:endParaRPr lang="en-US" sz="1350" dirty="0"/>
          </a:p>
          <a:p>
            <a:pPr marL="0" indent="0" algn="l">
              <a:lnSpc>
                <a:spcPts val="2150"/>
              </a:lnSpc>
              <a:buNone/>
            </a:pPr>
            <a:endParaRPr lang="en-US" sz="1350" dirty="0">
              <a:solidFill>
                <a:srgbClr val="404155"/>
              </a:solidFill>
              <a:latin typeface="Nobile" pitchFamily="34" charset="0"/>
              <a:ea typeface="Nobile" pitchFamily="34" charset="-122"/>
              <a:cs typeface="Nobile" pitchFamily="34" charset="-120"/>
            </a:endParaRPr>
          </a:p>
          <a:p>
            <a:pPr marL="0" indent="0" algn="l">
              <a:lnSpc>
                <a:spcPts val="2150"/>
              </a:lnSpc>
              <a:buNone/>
            </a:pPr>
            <a:endParaRPr lang="en-US" sz="1350" dirty="0">
              <a:solidFill>
                <a:srgbClr val="404155"/>
              </a:solidFill>
              <a:latin typeface="Nobile" pitchFamily="34" charset="0"/>
              <a:ea typeface="Nobile" pitchFamily="34" charset="-122"/>
              <a:cs typeface="Nobile" pitchFamily="34" charset="-120"/>
            </a:endParaRPr>
          </a:p>
          <a:p>
            <a:pPr marL="0" indent="0" algn="l">
              <a:lnSpc>
                <a:spcPts val="2150"/>
              </a:lnSpc>
              <a:buNone/>
            </a:pPr>
            <a:endParaRPr lang="en-US" sz="1350" dirty="0">
              <a:solidFill>
                <a:srgbClr val="404155"/>
              </a:solidFill>
              <a:latin typeface="Nobile" pitchFamily="34" charset="0"/>
              <a:ea typeface="Nobile" pitchFamily="34" charset="-122"/>
              <a:cs typeface="Nobile" pitchFamily="34" charset="-120"/>
            </a:endParaRPr>
          </a:p>
        </p:txBody>
      </p:sp>
      <p:sp>
        <p:nvSpPr>
          <p:cNvPr id="7" name="Text 3"/>
          <p:cNvSpPr/>
          <p:nvPr/>
        </p:nvSpPr>
        <p:spPr>
          <a:xfrm>
            <a:off x="523160" y="3122329"/>
            <a:ext cx="2179796" cy="272415"/>
          </a:xfrm>
          <a:prstGeom prst="rect">
            <a:avLst/>
          </a:prstGeom>
          <a:noFill/>
          <a:ln/>
        </p:spPr>
        <p:txBody>
          <a:bodyPr wrap="none" lIns="0" tIns="0" rIns="0" bIns="0" rtlCol="0" anchor="t"/>
          <a:lstStyle/>
          <a:p>
            <a:pPr marL="0" indent="0" algn="l">
              <a:lnSpc>
                <a:spcPts val="2100"/>
              </a:lnSpc>
              <a:buNone/>
            </a:pPr>
            <a:r>
              <a:rPr lang="en-US" sz="1700" dirty="0">
                <a:solidFill>
                  <a:srgbClr val="404155"/>
                </a:solidFill>
                <a:latin typeface="Alexandria" pitchFamily="34" charset="0"/>
                <a:ea typeface="Alexandria" pitchFamily="34" charset="-122"/>
                <a:cs typeface="Alexandria" pitchFamily="34" charset="-120"/>
              </a:rPr>
              <a:t>Confusion Matrix</a:t>
            </a:r>
            <a:endParaRPr lang="en-US" sz="1700" dirty="0"/>
          </a:p>
        </p:txBody>
      </p:sp>
      <p:sp>
        <p:nvSpPr>
          <p:cNvPr id="8" name="Text 4"/>
          <p:cNvSpPr/>
          <p:nvPr/>
        </p:nvSpPr>
        <p:spPr>
          <a:xfrm>
            <a:off x="523160" y="3665051"/>
            <a:ext cx="9026846" cy="791433"/>
          </a:xfrm>
          <a:prstGeom prst="rect">
            <a:avLst/>
          </a:prstGeom>
          <a:noFill/>
          <a:ln/>
        </p:spPr>
        <p:txBody>
          <a:bodyPr wrap="none" lIns="0" tIns="0" rIns="0" bIns="0" rtlCol="0" anchor="t"/>
          <a:lstStyle/>
          <a:p>
            <a:pPr marL="0" indent="0" algn="l">
              <a:lnSpc>
                <a:spcPts val="2150"/>
              </a:lnSpc>
              <a:buNone/>
            </a:pPr>
            <a:r>
              <a:rPr lang="en-US" sz="1350" dirty="0">
                <a:solidFill>
                  <a:srgbClr val="404155"/>
                </a:solidFill>
                <a:latin typeface="Nobile" pitchFamily="34" charset="0"/>
                <a:ea typeface="Nobile" pitchFamily="34" charset="-122"/>
                <a:cs typeface="Nobile" pitchFamily="34" charset="-120"/>
              </a:rPr>
              <a:t>A table which shows how well a classification models prediction matches the actual results. </a:t>
            </a:r>
          </a:p>
          <a:p>
            <a:pPr marL="0" indent="0" algn="l">
              <a:lnSpc>
                <a:spcPts val="2150"/>
              </a:lnSpc>
              <a:buNone/>
            </a:pPr>
            <a:r>
              <a:rPr lang="en-US" sz="1350" dirty="0">
                <a:solidFill>
                  <a:srgbClr val="404155"/>
                </a:solidFill>
                <a:latin typeface="Nobile" pitchFamily="34" charset="0"/>
                <a:ea typeface="Nobile" pitchFamily="34" charset="-122"/>
                <a:cs typeface="Nobile" pitchFamily="34" charset="-120"/>
              </a:rPr>
              <a:t>Gives an idea about </a:t>
            </a:r>
            <a:r>
              <a:rPr lang="en-US" sz="1350" dirty="0">
                <a:solidFill>
                  <a:srgbClr val="404155"/>
                </a:solidFill>
                <a:latin typeface="Nobile" pitchFamily="34" charset="0"/>
              </a:rPr>
              <a:t>FP, FN,TP &amp; TN</a:t>
            </a:r>
            <a:endParaRPr lang="en-US" sz="1350" dirty="0"/>
          </a:p>
        </p:txBody>
      </p:sp>
      <p:sp>
        <p:nvSpPr>
          <p:cNvPr id="10" name="Text 5"/>
          <p:cNvSpPr/>
          <p:nvPr/>
        </p:nvSpPr>
        <p:spPr>
          <a:xfrm>
            <a:off x="523160" y="4532802"/>
            <a:ext cx="2179796" cy="272415"/>
          </a:xfrm>
          <a:prstGeom prst="rect">
            <a:avLst/>
          </a:prstGeom>
          <a:noFill/>
          <a:ln/>
        </p:spPr>
        <p:txBody>
          <a:bodyPr wrap="none" lIns="0" tIns="0" rIns="0" bIns="0" rtlCol="0" anchor="t"/>
          <a:lstStyle/>
          <a:p>
            <a:pPr marL="0" indent="0" algn="l">
              <a:lnSpc>
                <a:spcPts val="2100"/>
              </a:lnSpc>
              <a:buNone/>
            </a:pPr>
            <a:r>
              <a:rPr lang="en-US" sz="1700" dirty="0">
                <a:solidFill>
                  <a:srgbClr val="404155"/>
                </a:solidFill>
                <a:latin typeface="Alexandria" pitchFamily="34" charset="0"/>
                <a:ea typeface="Alexandria" pitchFamily="34" charset="-122"/>
                <a:cs typeface="Alexandria" pitchFamily="34" charset="-120"/>
              </a:rPr>
              <a:t>ROC-AUC Curve</a:t>
            </a:r>
            <a:endParaRPr lang="en-US" sz="1700" dirty="0"/>
          </a:p>
        </p:txBody>
      </p:sp>
      <p:sp>
        <p:nvSpPr>
          <p:cNvPr id="11" name="Text 6"/>
          <p:cNvSpPr/>
          <p:nvPr/>
        </p:nvSpPr>
        <p:spPr>
          <a:xfrm>
            <a:off x="523160" y="6056430"/>
            <a:ext cx="7527131" cy="558165"/>
          </a:xfrm>
          <a:prstGeom prst="rect">
            <a:avLst/>
          </a:prstGeom>
          <a:noFill/>
          <a:ln/>
        </p:spPr>
        <p:txBody>
          <a:bodyPr wrap="square" lIns="0" tIns="0" rIns="0" bIns="0" rtlCol="0" anchor="t"/>
          <a:lstStyle/>
          <a:p>
            <a:pPr>
              <a:lnSpc>
                <a:spcPts val="2150"/>
              </a:lnSpc>
            </a:pPr>
            <a:r>
              <a:rPr lang="en-US" sz="1350" dirty="0">
                <a:solidFill>
                  <a:srgbClr val="404155"/>
                </a:solidFill>
                <a:latin typeface="Nobile" pitchFamily="34" charset="0"/>
              </a:rPr>
              <a:t>PR Curve focuses only on the positive class (minority), making it more sensitive to performance drops in rare-event detection.</a:t>
            </a:r>
          </a:p>
        </p:txBody>
      </p:sp>
      <p:sp>
        <p:nvSpPr>
          <p:cNvPr id="17" name="Text 2">
            <a:extLst>
              <a:ext uri="{FF2B5EF4-FFF2-40B4-BE49-F238E27FC236}">
                <a16:creationId xmlns:a16="http://schemas.microsoft.com/office/drawing/2014/main" id="{CF7413B5-1462-2CCF-FEF5-05A354ACB8BF}"/>
              </a:ext>
            </a:extLst>
          </p:cNvPr>
          <p:cNvSpPr/>
          <p:nvPr/>
        </p:nvSpPr>
        <p:spPr>
          <a:xfrm>
            <a:off x="523160" y="4934845"/>
            <a:ext cx="8877694" cy="669190"/>
          </a:xfrm>
          <a:prstGeom prst="rect">
            <a:avLst/>
          </a:prstGeom>
          <a:noFill/>
          <a:ln/>
        </p:spPr>
        <p:txBody>
          <a:bodyPr wrap="none" lIns="0" tIns="0" rIns="0" bIns="0" rtlCol="0" anchor="t"/>
          <a:lstStyle/>
          <a:p>
            <a:pPr>
              <a:lnSpc>
                <a:spcPts val="2150"/>
              </a:lnSpc>
            </a:pPr>
            <a:r>
              <a:rPr lang="en-US" sz="1350" dirty="0">
                <a:solidFill>
                  <a:srgbClr val="404155"/>
                </a:solidFill>
                <a:latin typeface="Nobile" pitchFamily="34" charset="0"/>
              </a:rPr>
              <a:t>Tool for evaluating how well a classification model can separate two classes (e.g., diabetic vs. non-diabetic) </a:t>
            </a:r>
          </a:p>
          <a:p>
            <a:pPr>
              <a:lnSpc>
                <a:spcPts val="2150"/>
              </a:lnSpc>
            </a:pPr>
            <a:r>
              <a:rPr lang="en-US" sz="1350" dirty="0">
                <a:solidFill>
                  <a:srgbClr val="404155"/>
                </a:solidFill>
                <a:latin typeface="Nobile" pitchFamily="34" charset="0"/>
              </a:rPr>
              <a:t>across all possible probability thresholds.</a:t>
            </a:r>
          </a:p>
          <a:p>
            <a:pPr marL="0" indent="0" algn="l">
              <a:lnSpc>
                <a:spcPts val="2150"/>
              </a:lnSpc>
              <a:buNone/>
            </a:pPr>
            <a:endParaRPr lang="en-US" sz="1350" dirty="0">
              <a:solidFill>
                <a:srgbClr val="404155"/>
              </a:solidFill>
              <a:latin typeface="Nobile" pitchFamily="34" charset="0"/>
            </a:endParaRPr>
          </a:p>
          <a:p>
            <a:pPr marL="0" indent="0" algn="l">
              <a:lnSpc>
                <a:spcPts val="2150"/>
              </a:lnSpc>
              <a:buNone/>
            </a:pPr>
            <a:endParaRPr lang="en-US" sz="1350" dirty="0">
              <a:solidFill>
                <a:srgbClr val="404155"/>
              </a:solidFill>
              <a:latin typeface="Nobile" pitchFamily="34" charset="0"/>
              <a:ea typeface="Nobile" pitchFamily="34" charset="-122"/>
              <a:cs typeface="Nobile" pitchFamily="34" charset="-120"/>
            </a:endParaRPr>
          </a:p>
        </p:txBody>
      </p:sp>
      <p:sp>
        <p:nvSpPr>
          <p:cNvPr id="18" name="Text 5">
            <a:extLst>
              <a:ext uri="{FF2B5EF4-FFF2-40B4-BE49-F238E27FC236}">
                <a16:creationId xmlns:a16="http://schemas.microsoft.com/office/drawing/2014/main" id="{E3A2EB7E-17C4-1112-B696-93410E0051AF}"/>
              </a:ext>
            </a:extLst>
          </p:cNvPr>
          <p:cNvSpPr/>
          <p:nvPr/>
        </p:nvSpPr>
        <p:spPr>
          <a:xfrm>
            <a:off x="523160" y="5713658"/>
            <a:ext cx="2466620" cy="272415"/>
          </a:xfrm>
          <a:prstGeom prst="rect">
            <a:avLst/>
          </a:prstGeom>
          <a:noFill/>
          <a:ln/>
        </p:spPr>
        <p:txBody>
          <a:bodyPr wrap="none" lIns="0" tIns="0" rIns="0" bIns="0" rtlCol="0" anchor="t"/>
          <a:lstStyle/>
          <a:p>
            <a:pPr marL="0" indent="0" algn="l">
              <a:lnSpc>
                <a:spcPts val="2100"/>
              </a:lnSpc>
              <a:buNone/>
            </a:pPr>
            <a:r>
              <a:rPr lang="en-US" sz="1700" dirty="0">
                <a:solidFill>
                  <a:srgbClr val="404155"/>
                </a:solidFill>
                <a:latin typeface="Alexandria" pitchFamily="34" charset="0"/>
                <a:ea typeface="Alexandria" pitchFamily="34" charset="-122"/>
                <a:cs typeface="Alexandria" pitchFamily="34" charset="-120"/>
              </a:rPr>
              <a:t>Precision Recall Curve</a:t>
            </a:r>
            <a:endParaRPr lang="en-US" sz="1700" dirty="0"/>
          </a:p>
        </p:txBody>
      </p:sp>
      <p:pic>
        <p:nvPicPr>
          <p:cNvPr id="20" name="Picture 19">
            <a:extLst>
              <a:ext uri="{FF2B5EF4-FFF2-40B4-BE49-F238E27FC236}">
                <a16:creationId xmlns:a16="http://schemas.microsoft.com/office/drawing/2014/main" id="{1413D71C-32D2-4F26-02F8-325531949979}"/>
              </a:ext>
            </a:extLst>
          </p:cNvPr>
          <p:cNvPicPr>
            <a:picLocks noChangeAspect="1"/>
          </p:cNvPicPr>
          <p:nvPr/>
        </p:nvPicPr>
        <p:blipFill>
          <a:blip r:embed="rId3"/>
          <a:stretch>
            <a:fillRect/>
          </a:stretch>
        </p:blipFill>
        <p:spPr>
          <a:xfrm>
            <a:off x="9449887" y="2560586"/>
            <a:ext cx="4657353" cy="286817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0">
            <a:extLst>
              <a:ext uri="{FF2B5EF4-FFF2-40B4-BE49-F238E27FC236}">
                <a16:creationId xmlns:a16="http://schemas.microsoft.com/office/drawing/2014/main" id="{DB879200-A139-B01F-FCDF-6B12B7D0B1FA}"/>
              </a:ext>
            </a:extLst>
          </p:cNvPr>
          <p:cNvSpPr/>
          <p:nvPr/>
        </p:nvSpPr>
        <p:spPr>
          <a:xfrm>
            <a:off x="610314" y="480536"/>
            <a:ext cx="10163651" cy="544949"/>
          </a:xfrm>
          <a:prstGeom prst="rect">
            <a:avLst/>
          </a:prstGeom>
          <a:noFill/>
          <a:ln/>
        </p:spPr>
        <p:txBody>
          <a:bodyPr wrap="none" lIns="0" tIns="0" rIns="0" bIns="0" rtlCol="0" anchor="t"/>
          <a:lstStyle/>
          <a:p>
            <a:pPr>
              <a:lnSpc>
                <a:spcPts val="4250"/>
              </a:lnSpc>
            </a:pPr>
            <a:r>
              <a:rPr lang="en-US" sz="3400" dirty="0">
                <a:solidFill>
                  <a:srgbClr val="1B1B27"/>
                </a:solidFill>
                <a:latin typeface="Alexandria" pitchFamily="34" charset="0"/>
                <a:ea typeface="Alexandria" pitchFamily="34" charset="-122"/>
                <a:cs typeface="Alexandria" pitchFamily="34" charset="-120"/>
              </a:rPr>
              <a:t>Evaluation Metrics (Contd.)</a:t>
            </a:r>
            <a:endParaRPr lang="en-US" sz="3400" dirty="0"/>
          </a:p>
        </p:txBody>
      </p:sp>
      <p:pic>
        <p:nvPicPr>
          <p:cNvPr id="18" name="Picture 17">
            <a:extLst>
              <a:ext uri="{FF2B5EF4-FFF2-40B4-BE49-F238E27FC236}">
                <a16:creationId xmlns:a16="http://schemas.microsoft.com/office/drawing/2014/main" id="{CFCDCA1C-02AE-BF9D-4623-1AEAABD44FDB}"/>
              </a:ext>
            </a:extLst>
          </p:cNvPr>
          <p:cNvPicPr>
            <a:picLocks noChangeAspect="1"/>
          </p:cNvPicPr>
          <p:nvPr/>
        </p:nvPicPr>
        <p:blipFill>
          <a:blip r:embed="rId2"/>
          <a:stretch>
            <a:fillRect/>
          </a:stretch>
        </p:blipFill>
        <p:spPr>
          <a:xfrm>
            <a:off x="900047" y="1486718"/>
            <a:ext cx="4951112" cy="4079682"/>
          </a:xfrm>
          <a:prstGeom prst="rect">
            <a:avLst/>
          </a:prstGeom>
        </p:spPr>
      </p:pic>
      <p:pic>
        <p:nvPicPr>
          <p:cNvPr id="20" name="Picture 19">
            <a:extLst>
              <a:ext uri="{FF2B5EF4-FFF2-40B4-BE49-F238E27FC236}">
                <a16:creationId xmlns:a16="http://schemas.microsoft.com/office/drawing/2014/main" id="{BA3DF35C-CA96-3416-E7A6-6FA1120F39D2}"/>
              </a:ext>
            </a:extLst>
          </p:cNvPr>
          <p:cNvPicPr>
            <a:picLocks noChangeAspect="1"/>
          </p:cNvPicPr>
          <p:nvPr/>
        </p:nvPicPr>
        <p:blipFill>
          <a:blip r:embed="rId3"/>
          <a:stretch>
            <a:fillRect/>
          </a:stretch>
        </p:blipFill>
        <p:spPr>
          <a:xfrm>
            <a:off x="8420763" y="1486718"/>
            <a:ext cx="4706403" cy="4079682"/>
          </a:xfrm>
          <a:prstGeom prst="rect">
            <a:avLst/>
          </a:prstGeom>
        </p:spPr>
      </p:pic>
      <p:sp>
        <p:nvSpPr>
          <p:cNvPr id="22" name="Rectangle 2">
            <a:extLst>
              <a:ext uri="{FF2B5EF4-FFF2-40B4-BE49-F238E27FC236}">
                <a16:creationId xmlns:a16="http://schemas.microsoft.com/office/drawing/2014/main" id="{8DC9347E-01A2-F139-6E53-4C3A54B7C6DB}"/>
              </a:ext>
            </a:extLst>
          </p:cNvPr>
          <p:cNvSpPr>
            <a:spLocks noChangeArrowheads="1"/>
          </p:cNvSpPr>
          <p:nvPr/>
        </p:nvSpPr>
        <p:spPr bwMode="auto">
          <a:xfrm>
            <a:off x="546538" y="6027634"/>
            <a:ext cx="601865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ROC Curve (AUC = 0.82)</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The ROC curve shows strong overall discrimination between diabetes and non-diabetes cases, but can appear optimistic in imbalanced datasets as it includes many true negatives</a:t>
            </a:r>
          </a:p>
        </p:txBody>
      </p:sp>
      <p:sp>
        <p:nvSpPr>
          <p:cNvPr id="23" name="Rectangle 3">
            <a:extLst>
              <a:ext uri="{FF2B5EF4-FFF2-40B4-BE49-F238E27FC236}">
                <a16:creationId xmlns:a16="http://schemas.microsoft.com/office/drawing/2014/main" id="{682D2A04-56B3-107C-54E7-33D9678783D4}"/>
              </a:ext>
            </a:extLst>
          </p:cNvPr>
          <p:cNvSpPr>
            <a:spLocks noChangeArrowheads="1"/>
          </p:cNvSpPr>
          <p:nvPr/>
        </p:nvSpPr>
        <p:spPr bwMode="auto">
          <a:xfrm>
            <a:off x="7248741" y="6030347"/>
            <a:ext cx="738165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 Curve (AP = 0.43)</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PR curve focuses only on the positive (diabetes) class, revealing the trade-off between precision and recall; the lower score reflects the challenge of detecting the minority class.</a:t>
            </a:r>
          </a:p>
        </p:txBody>
      </p:sp>
    </p:spTree>
    <p:extLst>
      <p:ext uri="{BB962C8B-B14F-4D97-AF65-F5344CB8AC3E}">
        <p14:creationId xmlns:p14="http://schemas.microsoft.com/office/powerpoint/2010/main" val="2046177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73179" y="577096"/>
            <a:ext cx="11137702" cy="601028"/>
          </a:xfrm>
          <a:prstGeom prst="rect">
            <a:avLst/>
          </a:prstGeom>
          <a:noFill/>
          <a:ln/>
        </p:spPr>
        <p:txBody>
          <a:bodyPr wrap="none" lIns="0" tIns="0" rIns="0" bIns="0" rtlCol="0" anchor="t"/>
          <a:lstStyle/>
          <a:p>
            <a:pPr marL="0" indent="0" algn="l">
              <a:lnSpc>
                <a:spcPts val="4700"/>
              </a:lnSpc>
              <a:buNone/>
            </a:pPr>
            <a:r>
              <a:rPr lang="en-US" sz="3750" dirty="0">
                <a:solidFill>
                  <a:srgbClr val="1B1B27"/>
                </a:solidFill>
                <a:latin typeface="Alexandria" pitchFamily="34" charset="0"/>
                <a:ea typeface="Alexandria" pitchFamily="34" charset="-122"/>
                <a:cs typeface="Alexandria" pitchFamily="34" charset="-120"/>
              </a:rPr>
              <a:t>Implementation Roadmap &amp; Future Directions</a:t>
            </a:r>
            <a:endParaRPr lang="en-US" sz="3750" dirty="0"/>
          </a:p>
        </p:txBody>
      </p:sp>
      <p:sp>
        <p:nvSpPr>
          <p:cNvPr id="3" name="Shape 1"/>
          <p:cNvSpPr/>
          <p:nvPr/>
        </p:nvSpPr>
        <p:spPr>
          <a:xfrm>
            <a:off x="7303769" y="1562814"/>
            <a:ext cx="45719" cy="5317275"/>
          </a:xfrm>
          <a:prstGeom prst="roundRect">
            <a:avLst>
              <a:gd name="adj" fmla="val 353394"/>
            </a:avLst>
          </a:prstGeom>
          <a:solidFill>
            <a:srgbClr val="B8C3DF"/>
          </a:solidFill>
          <a:ln/>
        </p:spPr>
      </p:sp>
      <p:sp>
        <p:nvSpPr>
          <p:cNvPr id="4" name="Shape 2"/>
          <p:cNvSpPr/>
          <p:nvPr/>
        </p:nvSpPr>
        <p:spPr>
          <a:xfrm>
            <a:off x="6544747" y="1767721"/>
            <a:ext cx="576977" cy="22860"/>
          </a:xfrm>
          <a:prstGeom prst="roundRect">
            <a:avLst>
              <a:gd name="adj" fmla="val 353394"/>
            </a:avLst>
          </a:prstGeom>
          <a:solidFill>
            <a:srgbClr val="B8C3DF"/>
          </a:solidFill>
          <a:ln/>
        </p:spPr>
      </p:sp>
      <p:sp>
        <p:nvSpPr>
          <p:cNvPr id="5" name="Shape 3"/>
          <p:cNvSpPr/>
          <p:nvPr/>
        </p:nvSpPr>
        <p:spPr>
          <a:xfrm>
            <a:off x="7098863" y="1562814"/>
            <a:ext cx="432673" cy="432673"/>
          </a:xfrm>
          <a:prstGeom prst="roundRect">
            <a:avLst>
              <a:gd name="adj" fmla="val 18671"/>
            </a:avLst>
          </a:prstGeom>
          <a:solidFill>
            <a:srgbClr val="D2DDF9"/>
          </a:solidFill>
          <a:ln w="7620">
            <a:solidFill>
              <a:srgbClr val="B8C3DF"/>
            </a:solidFill>
            <a:prstDash val="solid"/>
          </a:ln>
        </p:spPr>
      </p:sp>
      <p:sp>
        <p:nvSpPr>
          <p:cNvPr id="6" name="Text 4"/>
          <p:cNvSpPr/>
          <p:nvPr/>
        </p:nvSpPr>
        <p:spPr>
          <a:xfrm>
            <a:off x="7170956" y="1598831"/>
            <a:ext cx="288488" cy="360640"/>
          </a:xfrm>
          <a:prstGeom prst="rect">
            <a:avLst/>
          </a:prstGeom>
          <a:noFill/>
          <a:ln/>
        </p:spPr>
        <p:txBody>
          <a:bodyPr wrap="none" lIns="0" tIns="0" rIns="0" bIns="0" rtlCol="0" anchor="t"/>
          <a:lstStyle/>
          <a:p>
            <a:pPr marL="0" indent="0" algn="ctr">
              <a:lnSpc>
                <a:spcPts val="2250"/>
              </a:lnSpc>
              <a:buNone/>
            </a:pPr>
            <a:r>
              <a:rPr lang="en-US" sz="2250" dirty="0">
                <a:solidFill>
                  <a:srgbClr val="404155"/>
                </a:solidFill>
                <a:latin typeface="Alexandria" pitchFamily="34" charset="0"/>
                <a:ea typeface="Alexandria" pitchFamily="34" charset="-122"/>
                <a:cs typeface="Alexandria" pitchFamily="34" charset="-120"/>
              </a:rPr>
              <a:t>1</a:t>
            </a:r>
            <a:endParaRPr lang="en-US" sz="2250" dirty="0"/>
          </a:p>
        </p:txBody>
      </p:sp>
      <p:sp>
        <p:nvSpPr>
          <p:cNvPr id="7" name="Text 5"/>
          <p:cNvSpPr/>
          <p:nvPr/>
        </p:nvSpPr>
        <p:spPr>
          <a:xfrm>
            <a:off x="2657951" y="1628894"/>
            <a:ext cx="3695581" cy="300395"/>
          </a:xfrm>
          <a:prstGeom prst="rect">
            <a:avLst/>
          </a:prstGeom>
          <a:noFill/>
          <a:ln/>
        </p:spPr>
        <p:txBody>
          <a:bodyPr wrap="none" lIns="0" tIns="0" rIns="0" bIns="0" rtlCol="0" anchor="t"/>
          <a:lstStyle/>
          <a:p>
            <a:pPr marL="0" indent="0" algn="r">
              <a:lnSpc>
                <a:spcPts val="2350"/>
              </a:lnSpc>
              <a:buNone/>
            </a:pPr>
            <a:r>
              <a:rPr lang="en-US" sz="1850" dirty="0">
                <a:solidFill>
                  <a:srgbClr val="404155"/>
                </a:solidFill>
                <a:latin typeface="Alexandria" pitchFamily="34" charset="0"/>
                <a:ea typeface="Alexandria" pitchFamily="34" charset="-122"/>
                <a:cs typeface="Alexandria" pitchFamily="34" charset="-120"/>
              </a:rPr>
              <a:t>Advanced Model Development</a:t>
            </a:r>
            <a:endParaRPr lang="en-US" sz="1850" dirty="0"/>
          </a:p>
        </p:txBody>
      </p:sp>
      <p:sp>
        <p:nvSpPr>
          <p:cNvPr id="8" name="Text 6"/>
          <p:cNvSpPr/>
          <p:nvPr/>
        </p:nvSpPr>
        <p:spPr>
          <a:xfrm>
            <a:off x="673179" y="2044660"/>
            <a:ext cx="5680353" cy="923330"/>
          </a:xfrm>
          <a:prstGeom prst="rect">
            <a:avLst/>
          </a:prstGeom>
          <a:noFill/>
          <a:ln/>
        </p:spPr>
        <p:txBody>
          <a:bodyPr wrap="square" lIns="0" tIns="0" rIns="0" bIns="0" rtlCol="0" anchor="t"/>
          <a:lstStyle/>
          <a:p>
            <a:pPr marL="0" indent="0" algn="r">
              <a:lnSpc>
                <a:spcPts val="2400"/>
              </a:lnSpc>
              <a:buNone/>
            </a:pPr>
            <a:r>
              <a:rPr lang="en-US" sz="1500" dirty="0">
                <a:solidFill>
                  <a:srgbClr val="404155"/>
                </a:solidFill>
                <a:latin typeface="Nobile" pitchFamily="34" charset="0"/>
                <a:ea typeface="Nobile" pitchFamily="34" charset="-122"/>
                <a:cs typeface="Nobile" pitchFamily="34" charset="-120"/>
              </a:rPr>
              <a:t>Implement ensemble methods including Random Forest and XGBoost to improve predictive performance and model robustness</a:t>
            </a:r>
            <a:endParaRPr lang="en-US" sz="1500" dirty="0"/>
          </a:p>
        </p:txBody>
      </p:sp>
      <p:sp>
        <p:nvSpPr>
          <p:cNvPr id="9" name="Shape 7"/>
          <p:cNvSpPr/>
          <p:nvPr/>
        </p:nvSpPr>
        <p:spPr>
          <a:xfrm>
            <a:off x="7499042" y="3336461"/>
            <a:ext cx="576977" cy="22860"/>
          </a:xfrm>
          <a:prstGeom prst="roundRect">
            <a:avLst>
              <a:gd name="adj" fmla="val 353394"/>
            </a:avLst>
          </a:prstGeom>
          <a:solidFill>
            <a:srgbClr val="B8C3DF"/>
          </a:solidFill>
          <a:ln/>
        </p:spPr>
      </p:sp>
      <p:sp>
        <p:nvSpPr>
          <p:cNvPr id="10" name="Shape 8"/>
          <p:cNvSpPr/>
          <p:nvPr/>
        </p:nvSpPr>
        <p:spPr>
          <a:xfrm>
            <a:off x="7098863" y="3148230"/>
            <a:ext cx="432673" cy="432673"/>
          </a:xfrm>
          <a:prstGeom prst="roundRect">
            <a:avLst>
              <a:gd name="adj" fmla="val 18671"/>
            </a:avLst>
          </a:prstGeom>
          <a:solidFill>
            <a:srgbClr val="D2DDF9"/>
          </a:solidFill>
          <a:ln w="7620">
            <a:solidFill>
              <a:srgbClr val="B8C3DF"/>
            </a:solidFill>
            <a:prstDash val="solid"/>
          </a:ln>
        </p:spPr>
      </p:sp>
      <p:sp>
        <p:nvSpPr>
          <p:cNvPr id="11" name="Text 9"/>
          <p:cNvSpPr/>
          <p:nvPr/>
        </p:nvSpPr>
        <p:spPr>
          <a:xfrm>
            <a:off x="7180478" y="3203126"/>
            <a:ext cx="288488" cy="360640"/>
          </a:xfrm>
          <a:prstGeom prst="rect">
            <a:avLst/>
          </a:prstGeom>
          <a:noFill/>
          <a:ln/>
        </p:spPr>
        <p:txBody>
          <a:bodyPr wrap="none" lIns="0" tIns="0" rIns="0" bIns="0" rtlCol="0" anchor="t"/>
          <a:lstStyle/>
          <a:p>
            <a:pPr marL="0" indent="0" algn="ctr">
              <a:lnSpc>
                <a:spcPts val="2250"/>
              </a:lnSpc>
              <a:buNone/>
            </a:pPr>
            <a:r>
              <a:rPr lang="en-US" sz="2250" dirty="0">
                <a:solidFill>
                  <a:srgbClr val="404155"/>
                </a:solidFill>
                <a:latin typeface="Alexandria" pitchFamily="34" charset="0"/>
                <a:ea typeface="Alexandria" pitchFamily="34" charset="-122"/>
                <a:cs typeface="Alexandria" pitchFamily="34" charset="-120"/>
              </a:rPr>
              <a:t>2</a:t>
            </a:r>
            <a:endParaRPr lang="en-US" sz="2250" dirty="0"/>
          </a:p>
        </p:txBody>
      </p:sp>
      <p:sp>
        <p:nvSpPr>
          <p:cNvPr id="12" name="Text 10"/>
          <p:cNvSpPr/>
          <p:nvPr/>
        </p:nvSpPr>
        <p:spPr>
          <a:xfrm>
            <a:off x="8276868" y="2782967"/>
            <a:ext cx="2404229" cy="300395"/>
          </a:xfrm>
          <a:prstGeom prst="rect">
            <a:avLst/>
          </a:prstGeom>
          <a:noFill/>
          <a:ln/>
        </p:spPr>
        <p:txBody>
          <a:bodyPr wrap="none" lIns="0" tIns="0" rIns="0" bIns="0" rtlCol="0" anchor="t"/>
          <a:lstStyle/>
          <a:p>
            <a:pPr marL="0" indent="0" algn="l">
              <a:lnSpc>
                <a:spcPts val="2350"/>
              </a:lnSpc>
              <a:buNone/>
            </a:pPr>
            <a:r>
              <a:rPr lang="en-US" sz="1850" dirty="0">
                <a:solidFill>
                  <a:srgbClr val="404155"/>
                </a:solidFill>
                <a:latin typeface="Alexandria" pitchFamily="34" charset="0"/>
                <a:ea typeface="Alexandria" pitchFamily="34" charset="-122"/>
                <a:cs typeface="Alexandria" pitchFamily="34" charset="-120"/>
              </a:rPr>
              <a:t>Optimization</a:t>
            </a:r>
            <a:endParaRPr lang="en-US" sz="1850" dirty="0"/>
          </a:p>
        </p:txBody>
      </p:sp>
      <p:sp>
        <p:nvSpPr>
          <p:cNvPr id="13" name="Text 11"/>
          <p:cNvSpPr/>
          <p:nvPr/>
        </p:nvSpPr>
        <p:spPr>
          <a:xfrm>
            <a:off x="8276868" y="3198733"/>
            <a:ext cx="5680353" cy="923330"/>
          </a:xfrm>
          <a:prstGeom prst="rect">
            <a:avLst/>
          </a:prstGeom>
          <a:noFill/>
          <a:ln/>
        </p:spPr>
        <p:txBody>
          <a:bodyPr wrap="square" lIns="0" tIns="0" rIns="0" bIns="0" rtlCol="0" anchor="t"/>
          <a:lstStyle/>
          <a:p>
            <a:pPr marL="0" indent="0" algn="l">
              <a:lnSpc>
                <a:spcPts val="2400"/>
              </a:lnSpc>
              <a:buNone/>
            </a:pPr>
            <a:r>
              <a:rPr lang="en-US" sz="1500" dirty="0">
                <a:solidFill>
                  <a:srgbClr val="404155"/>
                </a:solidFill>
                <a:latin typeface="Nobile" pitchFamily="34" charset="0"/>
                <a:ea typeface="Nobile" pitchFamily="34" charset="-122"/>
                <a:cs typeface="Nobile" pitchFamily="34" charset="-120"/>
              </a:rPr>
              <a:t>Conduct comprehensive hyperparameter tuning to identify optimal model configurations for both accuracy and computational efficiency</a:t>
            </a:r>
            <a:endParaRPr lang="en-US" sz="1500" dirty="0"/>
          </a:p>
        </p:txBody>
      </p:sp>
      <p:sp>
        <p:nvSpPr>
          <p:cNvPr id="14" name="Shape 12"/>
          <p:cNvSpPr/>
          <p:nvPr/>
        </p:nvSpPr>
        <p:spPr>
          <a:xfrm>
            <a:off x="6616836" y="4393861"/>
            <a:ext cx="576977" cy="22860"/>
          </a:xfrm>
          <a:prstGeom prst="roundRect">
            <a:avLst>
              <a:gd name="adj" fmla="val 353394"/>
            </a:avLst>
          </a:prstGeom>
          <a:solidFill>
            <a:srgbClr val="B8C3DF"/>
          </a:solidFill>
          <a:ln/>
        </p:spPr>
      </p:sp>
      <p:sp>
        <p:nvSpPr>
          <p:cNvPr id="15" name="Shape 13"/>
          <p:cNvSpPr/>
          <p:nvPr/>
        </p:nvSpPr>
        <p:spPr>
          <a:xfrm>
            <a:off x="7108386" y="4213540"/>
            <a:ext cx="432673" cy="432673"/>
          </a:xfrm>
          <a:prstGeom prst="roundRect">
            <a:avLst>
              <a:gd name="adj" fmla="val 18671"/>
            </a:avLst>
          </a:prstGeom>
          <a:solidFill>
            <a:srgbClr val="D2DDF9"/>
          </a:solidFill>
          <a:ln w="7620">
            <a:solidFill>
              <a:srgbClr val="B8C3DF"/>
            </a:solidFill>
            <a:prstDash val="solid"/>
          </a:ln>
        </p:spPr>
      </p:sp>
      <p:sp>
        <p:nvSpPr>
          <p:cNvPr id="16" name="Text 14"/>
          <p:cNvSpPr/>
          <p:nvPr/>
        </p:nvSpPr>
        <p:spPr>
          <a:xfrm>
            <a:off x="7163396" y="4281738"/>
            <a:ext cx="288488" cy="360640"/>
          </a:xfrm>
          <a:prstGeom prst="rect">
            <a:avLst/>
          </a:prstGeom>
          <a:noFill/>
          <a:ln/>
        </p:spPr>
        <p:txBody>
          <a:bodyPr wrap="none" lIns="0" tIns="0" rIns="0" bIns="0" rtlCol="0" anchor="t"/>
          <a:lstStyle/>
          <a:p>
            <a:pPr marL="0" indent="0" algn="ctr">
              <a:lnSpc>
                <a:spcPts val="2250"/>
              </a:lnSpc>
              <a:buNone/>
            </a:pPr>
            <a:r>
              <a:rPr lang="en-US" sz="2250" dirty="0">
                <a:solidFill>
                  <a:srgbClr val="404155"/>
                </a:solidFill>
                <a:latin typeface="Alexandria" pitchFamily="34" charset="0"/>
                <a:ea typeface="Alexandria" pitchFamily="34" charset="-122"/>
                <a:cs typeface="Alexandria" pitchFamily="34" charset="-120"/>
              </a:rPr>
              <a:t>3</a:t>
            </a:r>
            <a:endParaRPr lang="en-US" sz="2250" dirty="0"/>
          </a:p>
        </p:txBody>
      </p:sp>
      <p:sp>
        <p:nvSpPr>
          <p:cNvPr id="17" name="Text 15"/>
          <p:cNvSpPr/>
          <p:nvPr/>
        </p:nvSpPr>
        <p:spPr>
          <a:xfrm>
            <a:off x="3949303" y="3777734"/>
            <a:ext cx="2404229" cy="300395"/>
          </a:xfrm>
          <a:prstGeom prst="rect">
            <a:avLst/>
          </a:prstGeom>
          <a:noFill/>
          <a:ln/>
        </p:spPr>
        <p:txBody>
          <a:bodyPr wrap="none" lIns="0" tIns="0" rIns="0" bIns="0" rtlCol="0" anchor="t"/>
          <a:lstStyle/>
          <a:p>
            <a:pPr marL="0" indent="0" algn="r">
              <a:lnSpc>
                <a:spcPts val="2350"/>
              </a:lnSpc>
              <a:buNone/>
            </a:pPr>
            <a:r>
              <a:rPr lang="en-US" sz="1850" dirty="0">
                <a:solidFill>
                  <a:srgbClr val="404155"/>
                </a:solidFill>
                <a:latin typeface="Alexandria" pitchFamily="34" charset="0"/>
                <a:ea typeface="Alexandria" pitchFamily="34" charset="-122"/>
                <a:cs typeface="Alexandria" pitchFamily="34" charset="-120"/>
              </a:rPr>
              <a:t>Clinical Integration</a:t>
            </a:r>
            <a:endParaRPr lang="en-US" sz="1850" dirty="0"/>
          </a:p>
        </p:txBody>
      </p:sp>
      <p:sp>
        <p:nvSpPr>
          <p:cNvPr id="18" name="Text 16"/>
          <p:cNvSpPr/>
          <p:nvPr/>
        </p:nvSpPr>
        <p:spPr>
          <a:xfrm>
            <a:off x="673179" y="4193500"/>
            <a:ext cx="5680353" cy="923330"/>
          </a:xfrm>
          <a:prstGeom prst="rect">
            <a:avLst/>
          </a:prstGeom>
          <a:noFill/>
          <a:ln/>
        </p:spPr>
        <p:txBody>
          <a:bodyPr wrap="square" lIns="0" tIns="0" rIns="0" bIns="0" rtlCol="0" anchor="t"/>
          <a:lstStyle/>
          <a:p>
            <a:pPr marL="0" indent="0" algn="r">
              <a:lnSpc>
                <a:spcPts val="2400"/>
              </a:lnSpc>
              <a:buNone/>
            </a:pPr>
            <a:r>
              <a:rPr lang="en-US" sz="1500" dirty="0">
                <a:solidFill>
                  <a:srgbClr val="404155"/>
                </a:solidFill>
                <a:latin typeface="Nobile" pitchFamily="34" charset="0"/>
                <a:ea typeface="Nobile" pitchFamily="34" charset="-122"/>
                <a:cs typeface="Nobile" pitchFamily="34" charset="-120"/>
              </a:rPr>
              <a:t>Develop and deploy a web-based screening tool for healthcare providers enabling real-time risk assessment during patient encounters</a:t>
            </a:r>
            <a:endParaRPr lang="en-US" sz="1500" dirty="0"/>
          </a:p>
        </p:txBody>
      </p:sp>
      <p:sp>
        <p:nvSpPr>
          <p:cNvPr id="19" name="Shape 17"/>
          <p:cNvSpPr/>
          <p:nvPr/>
        </p:nvSpPr>
        <p:spPr>
          <a:xfrm>
            <a:off x="7482301" y="5594911"/>
            <a:ext cx="576977" cy="22860"/>
          </a:xfrm>
          <a:prstGeom prst="roundRect">
            <a:avLst>
              <a:gd name="adj" fmla="val 353394"/>
            </a:avLst>
          </a:prstGeom>
          <a:solidFill>
            <a:srgbClr val="B8C3DF"/>
          </a:solidFill>
          <a:ln/>
        </p:spPr>
      </p:sp>
      <p:sp>
        <p:nvSpPr>
          <p:cNvPr id="20" name="Shape 18"/>
          <p:cNvSpPr/>
          <p:nvPr/>
        </p:nvSpPr>
        <p:spPr>
          <a:xfrm>
            <a:off x="7076004" y="5388628"/>
            <a:ext cx="432673" cy="432673"/>
          </a:xfrm>
          <a:prstGeom prst="roundRect">
            <a:avLst>
              <a:gd name="adj" fmla="val 18671"/>
            </a:avLst>
          </a:prstGeom>
          <a:solidFill>
            <a:srgbClr val="D2DDF9"/>
          </a:solidFill>
          <a:ln w="7620">
            <a:solidFill>
              <a:srgbClr val="B8C3DF"/>
            </a:solidFill>
            <a:prstDash val="solid"/>
          </a:ln>
        </p:spPr>
      </p:sp>
      <p:sp>
        <p:nvSpPr>
          <p:cNvPr id="21" name="Text 19"/>
          <p:cNvSpPr/>
          <p:nvPr/>
        </p:nvSpPr>
        <p:spPr>
          <a:xfrm>
            <a:off x="7159525" y="5469613"/>
            <a:ext cx="288488" cy="360640"/>
          </a:xfrm>
          <a:prstGeom prst="rect">
            <a:avLst/>
          </a:prstGeom>
          <a:noFill/>
          <a:ln/>
        </p:spPr>
        <p:txBody>
          <a:bodyPr wrap="none" lIns="0" tIns="0" rIns="0" bIns="0" rtlCol="0" anchor="t"/>
          <a:lstStyle/>
          <a:p>
            <a:pPr marL="0" indent="0" algn="ctr">
              <a:lnSpc>
                <a:spcPts val="2250"/>
              </a:lnSpc>
              <a:buNone/>
            </a:pPr>
            <a:r>
              <a:rPr lang="en-US" sz="2250" dirty="0">
                <a:solidFill>
                  <a:srgbClr val="404155"/>
                </a:solidFill>
                <a:latin typeface="Alexandria" pitchFamily="34" charset="0"/>
                <a:ea typeface="Alexandria" pitchFamily="34" charset="-122"/>
                <a:cs typeface="Alexandria" pitchFamily="34" charset="-120"/>
              </a:rPr>
              <a:t>4</a:t>
            </a:r>
            <a:endParaRPr lang="en-US" sz="2250" dirty="0"/>
          </a:p>
        </p:txBody>
      </p:sp>
      <p:sp>
        <p:nvSpPr>
          <p:cNvPr id="22" name="Text 20"/>
          <p:cNvSpPr/>
          <p:nvPr/>
        </p:nvSpPr>
        <p:spPr>
          <a:xfrm>
            <a:off x="8276868" y="4772501"/>
            <a:ext cx="3080147" cy="300395"/>
          </a:xfrm>
          <a:prstGeom prst="rect">
            <a:avLst/>
          </a:prstGeom>
          <a:noFill/>
          <a:ln/>
        </p:spPr>
        <p:txBody>
          <a:bodyPr wrap="none" lIns="0" tIns="0" rIns="0" bIns="0" rtlCol="0" anchor="t"/>
          <a:lstStyle/>
          <a:p>
            <a:pPr marL="0" indent="0" algn="l">
              <a:lnSpc>
                <a:spcPts val="2350"/>
              </a:lnSpc>
              <a:buNone/>
            </a:pPr>
            <a:r>
              <a:rPr lang="en-US" sz="1850" dirty="0">
                <a:solidFill>
                  <a:srgbClr val="404155"/>
                </a:solidFill>
                <a:latin typeface="Alexandria" pitchFamily="34" charset="0"/>
                <a:ea typeface="Alexandria" pitchFamily="34" charset="-122"/>
                <a:cs typeface="Alexandria" pitchFamily="34" charset="-120"/>
              </a:rPr>
              <a:t>Continuous Improvement</a:t>
            </a:r>
            <a:endParaRPr lang="en-US" sz="1850" dirty="0"/>
          </a:p>
        </p:txBody>
      </p:sp>
      <p:sp>
        <p:nvSpPr>
          <p:cNvPr id="23" name="Text 21"/>
          <p:cNvSpPr/>
          <p:nvPr/>
        </p:nvSpPr>
        <p:spPr>
          <a:xfrm>
            <a:off x="8276868" y="5188268"/>
            <a:ext cx="5680353" cy="923330"/>
          </a:xfrm>
          <a:prstGeom prst="rect">
            <a:avLst/>
          </a:prstGeom>
          <a:noFill/>
          <a:ln/>
        </p:spPr>
        <p:txBody>
          <a:bodyPr wrap="square" lIns="0" tIns="0" rIns="0" bIns="0" rtlCol="0" anchor="t"/>
          <a:lstStyle/>
          <a:p>
            <a:pPr marL="0" indent="0" algn="l">
              <a:lnSpc>
                <a:spcPts val="2400"/>
              </a:lnSpc>
              <a:buNone/>
            </a:pPr>
            <a:r>
              <a:rPr lang="en-US" sz="1500" dirty="0">
                <a:solidFill>
                  <a:srgbClr val="404155"/>
                </a:solidFill>
                <a:latin typeface="Nobile" pitchFamily="34" charset="0"/>
                <a:ea typeface="Nobile" pitchFamily="34" charset="-122"/>
                <a:cs typeface="Nobile" pitchFamily="34" charset="-120"/>
              </a:rPr>
              <a:t>Establish monitoring protocols to evaluate model performance over time and implement scheduled retraining with updated clinical datasets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FB62C-631E-38D1-810C-79AA95D7E4FC}"/>
            </a:ext>
          </a:extLst>
        </p:cNvPr>
        <p:cNvGrpSpPr/>
        <p:nvPr/>
      </p:nvGrpSpPr>
      <p:grpSpPr>
        <a:xfrm>
          <a:off x="0" y="0"/>
          <a:ext cx="0" cy="0"/>
          <a:chOff x="0" y="0"/>
          <a:chExt cx="0" cy="0"/>
        </a:xfrm>
      </p:grpSpPr>
      <p:sp>
        <p:nvSpPr>
          <p:cNvPr id="16" name="Text 0">
            <a:extLst>
              <a:ext uri="{FF2B5EF4-FFF2-40B4-BE49-F238E27FC236}">
                <a16:creationId xmlns:a16="http://schemas.microsoft.com/office/drawing/2014/main" id="{ABC9B1C2-FA4D-586F-3EB5-69CADA5732C1}"/>
              </a:ext>
            </a:extLst>
          </p:cNvPr>
          <p:cNvSpPr/>
          <p:nvPr/>
        </p:nvSpPr>
        <p:spPr>
          <a:xfrm>
            <a:off x="1534988" y="3100446"/>
            <a:ext cx="10163651" cy="1132507"/>
          </a:xfrm>
          <a:prstGeom prst="rect">
            <a:avLst/>
          </a:prstGeom>
          <a:noFill/>
          <a:ln/>
        </p:spPr>
        <p:txBody>
          <a:bodyPr wrap="none" lIns="0" tIns="0" rIns="0" bIns="0" rtlCol="0" anchor="t"/>
          <a:lstStyle/>
          <a:p>
            <a:pPr marL="0" indent="0">
              <a:lnSpc>
                <a:spcPts val="4250"/>
              </a:lnSpc>
              <a:buNone/>
            </a:pPr>
            <a:r>
              <a:rPr lang="en-US" sz="3400" dirty="0">
                <a:solidFill>
                  <a:srgbClr val="1B1B27"/>
                </a:solidFill>
                <a:latin typeface="Alexandria" pitchFamily="34" charset="0"/>
                <a:ea typeface="Alexandria" pitchFamily="34" charset="-122"/>
                <a:cs typeface="Alexandria" pitchFamily="34" charset="-120"/>
              </a:rPr>
              <a:t>		THANK YOU- ANY QUESTIONS ?</a:t>
            </a:r>
            <a:endParaRPr lang="en-US" sz="3400" dirty="0"/>
          </a:p>
        </p:txBody>
      </p:sp>
    </p:spTree>
    <p:extLst>
      <p:ext uri="{BB962C8B-B14F-4D97-AF65-F5344CB8AC3E}">
        <p14:creationId xmlns:p14="http://schemas.microsoft.com/office/powerpoint/2010/main" val="1467032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2889</TotalTime>
  <Words>787</Words>
  <Application>Microsoft Office PowerPoint</Application>
  <PresentationFormat>Custom</PresentationFormat>
  <Paragraphs>89</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Nobile</vt:lpstr>
      <vt:lpstr>Alexandria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Ankur Maheshwari</dc:creator>
  <cp:lastModifiedBy>Ankur Maheshwari</cp:lastModifiedBy>
  <cp:revision>12</cp:revision>
  <dcterms:created xsi:type="dcterms:W3CDTF">2025-08-15T04:06:51Z</dcterms:created>
  <dcterms:modified xsi:type="dcterms:W3CDTF">2025-08-17T04:19:01Z</dcterms:modified>
</cp:coreProperties>
</file>